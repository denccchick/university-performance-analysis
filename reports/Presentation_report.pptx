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83" r:id="rId3"/>
    <p:sldId id="284" r:id="rId4"/>
    <p:sldId id="285" r:id="rId5"/>
    <p:sldId id="288" r:id="rId6"/>
    <p:sldId id="258" r:id="rId7"/>
    <p:sldId id="259" r:id="rId8"/>
    <p:sldId id="264" r:id="rId9"/>
    <p:sldId id="261" r:id="rId10"/>
    <p:sldId id="262" r:id="rId11"/>
    <p:sldId id="263" r:id="rId12"/>
    <p:sldId id="289" r:id="rId13"/>
    <p:sldId id="286" r:id="rId14"/>
    <p:sldId id="287" r:id="rId15"/>
    <p:sldId id="290" r:id="rId16"/>
    <p:sldId id="265" r:id="rId17"/>
    <p:sldId id="292" r:id="rId18"/>
    <p:sldId id="266" r:id="rId19"/>
    <p:sldId id="267" r:id="rId20"/>
    <p:sldId id="268" r:id="rId21"/>
    <p:sldId id="269" r:id="rId22"/>
    <p:sldId id="270" r:id="rId23"/>
    <p:sldId id="271" r:id="rId24"/>
    <p:sldId id="272" r:id="rId25"/>
    <p:sldId id="273" r:id="rId26"/>
    <p:sldId id="274" r:id="rId27"/>
    <p:sldId id="300" r:id="rId28"/>
    <p:sldId id="293" r:id="rId29"/>
    <p:sldId id="294" r:id="rId30"/>
    <p:sldId id="295" r:id="rId31"/>
    <p:sldId id="296" r:id="rId32"/>
    <p:sldId id="297" r:id="rId33"/>
    <p:sldId id="280" r:id="rId34"/>
    <p:sldId id="299" r:id="rId35"/>
    <p:sldId id="298" r:id="rId36"/>
    <p:sldId id="282" r:id="rId3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148" autoAdjust="0"/>
  </p:normalViewPr>
  <p:slideViewPr>
    <p:cSldViewPr snapToGrid="0">
      <p:cViewPr varScale="1">
        <p:scale>
          <a:sx n="80" d="100"/>
          <a:sy n="80"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BF3C8-13DE-4DF4-9F1E-2DB3200A2B22}" type="datetimeFigureOut">
              <a:rPr lang="ru-RU" smtClean="0"/>
              <a:t>21.08.2025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EBA6D-E037-4ACC-927E-87D34F39C422}" type="slidenum">
              <a:rPr lang="ru-RU" smtClean="0"/>
              <a:t>‹#›</a:t>
            </a:fld>
            <a:endParaRPr lang="ru-RU"/>
          </a:p>
        </p:txBody>
      </p:sp>
    </p:spTree>
    <p:extLst>
      <p:ext uri="{BB962C8B-B14F-4D97-AF65-F5344CB8AC3E}">
        <p14:creationId xmlns:p14="http://schemas.microsoft.com/office/powerpoint/2010/main" val="76334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5A9EBA6D-E037-4ACC-927E-87D34F39C422}" type="slidenum">
              <a:rPr lang="ru-RU" smtClean="0"/>
              <a:t>33</a:t>
            </a:fld>
            <a:endParaRPr lang="ru-RU"/>
          </a:p>
        </p:txBody>
      </p:sp>
    </p:spTree>
    <p:extLst>
      <p:ext uri="{BB962C8B-B14F-4D97-AF65-F5344CB8AC3E}">
        <p14:creationId xmlns:p14="http://schemas.microsoft.com/office/powerpoint/2010/main" val="252688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CAB190-9EEF-4DED-A024-06834765D4E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4454E11-43D4-454B-B631-945108DE7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71DF7EA-9675-44E6-9993-FD567BBA226A}"/>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C3C8800B-1270-4076-A67A-5FCDB65315A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48E39DC-6AAE-478A-8B3B-371BD7EDB145}"/>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320696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B0A9A4-89E8-4350-902E-BC5566A6EA2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FA47838-9C8D-4F55-BDE0-93757AA7897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CBD0D93-B0F1-4484-B8E9-049F5EE8DAEC}"/>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B03941A1-A5BC-4BC3-9C3F-2CDCBEB0DE2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E899EA4-21F3-47B8-8125-92699133C3F6}"/>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2747693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D16CB5-EB1C-45C6-A58C-104C1983C24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BE767B42-9DC9-44C1-AF4C-E2DD5648CA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8AF5FE8-C7CD-4F07-AE16-75A175E98240}"/>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AD196046-0FBF-4967-8914-F7B44604EE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446A59A-142A-44C0-B4AB-AC9C4F2102D3}"/>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277966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6D6CAB-709E-43B7-B413-7D1DA26C112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C2BC57E-0EE9-4974-B4D2-43BA83D9BED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196D376F-A0B1-4466-B117-702823E6D77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D5228D8-3E7E-4025-839A-9832C991F926}"/>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6" name="Нижний колонтитул 5">
            <a:extLst>
              <a:ext uri="{FF2B5EF4-FFF2-40B4-BE49-F238E27FC236}">
                <a16:creationId xmlns:a16="http://schemas.microsoft.com/office/drawing/2014/main" id="{DFB5D095-1F2C-4647-9D80-BE1D6A1319E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093834C-8D0F-4533-B096-4D3479261113}"/>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3427472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9628D-0530-449E-B66B-C6E34CD0566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867C63A-AA95-4875-BF3E-9DDCB4CD54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0A1BEBC-7B2C-46C3-8C37-85EA08543A0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2AEA8E01-426D-41CB-B9D4-B6F40FECA2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79BBFE9-58A9-4F64-8FB9-1C7EA5C7451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8C15F33-E15E-4015-A072-2985287A1B17}"/>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8" name="Нижний колонтитул 7">
            <a:extLst>
              <a:ext uri="{FF2B5EF4-FFF2-40B4-BE49-F238E27FC236}">
                <a16:creationId xmlns:a16="http://schemas.microsoft.com/office/drawing/2014/main" id="{78F7C3FA-07F0-45A1-95A2-C559DDE01F73}"/>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9F36BB0-A7A4-4787-B27D-A606A779100F}"/>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2540949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7699D5-2123-4D41-B98D-77BCE4D9140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0E3462A0-AD98-4CC9-A8C0-E130019A0130}"/>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4" name="Нижний колонтитул 3">
            <a:extLst>
              <a:ext uri="{FF2B5EF4-FFF2-40B4-BE49-F238E27FC236}">
                <a16:creationId xmlns:a16="http://schemas.microsoft.com/office/drawing/2014/main" id="{4366870D-B762-4B3E-BD58-0C3EE93BBAE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82AD0C5-C281-4928-811C-F06C27D344A0}"/>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3615454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4CB1066-59F9-4C5B-8DCF-51B7E40E518B}"/>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3" name="Нижний колонтитул 2">
            <a:extLst>
              <a:ext uri="{FF2B5EF4-FFF2-40B4-BE49-F238E27FC236}">
                <a16:creationId xmlns:a16="http://schemas.microsoft.com/office/drawing/2014/main" id="{DDA2B561-BAAC-4D85-BDAB-0CE50E734A9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C56F376-5A5D-4B0C-B8B8-9D0877F05EDC}"/>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3995667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6885A9-6AB2-4552-83D4-ED12479CF0A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674F180-F605-433D-BA8D-86D10DF18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F82C5F3C-D0B0-4ABC-B6A4-0EB36F03A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5984EE7-E644-4DE9-87D1-757C6D4773CA}"/>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6" name="Нижний колонтитул 5">
            <a:extLst>
              <a:ext uri="{FF2B5EF4-FFF2-40B4-BE49-F238E27FC236}">
                <a16:creationId xmlns:a16="http://schemas.microsoft.com/office/drawing/2014/main" id="{DDB8276A-D5E1-4BB7-9E58-64ADFA043F2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BC2A5AF-30C3-4224-B393-3F611253CC05}"/>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1405924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12FBCB-0573-4CD4-9CE7-7CA2B92CDB9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8EBBCCB-3A23-41EA-9E18-168ABF06E9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3B5B6AD-00B1-463A-A241-4D7AEFC6C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9C03854-3A41-4ACB-ACBA-3A9F5E10E66B}"/>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6" name="Нижний колонтитул 5">
            <a:extLst>
              <a:ext uri="{FF2B5EF4-FFF2-40B4-BE49-F238E27FC236}">
                <a16:creationId xmlns:a16="http://schemas.microsoft.com/office/drawing/2014/main" id="{A8E3BB9F-8A29-4CC3-8499-D3BBB60B99F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964ADBA-80A6-43D2-A0D4-6A1A39F2A5DC}"/>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1975130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49DD9-EC70-4C18-A755-B9FA50A11CD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B0CDC34A-9E54-4818-8B8B-F58A68C6C5D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296D2C0-EC20-4767-84F1-B77D9D81F245}"/>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02E4C635-4D19-4765-8A27-715167217D1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2D3629E-B091-47DD-85BE-2216AFBCCD5B}"/>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144104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AD3EC386-069E-4414-9327-AF88F967B64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1290B8B3-8668-4269-8B94-EA21F6DA1AB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0A6FC2E-E451-431A-829C-E97638AD2423}"/>
              </a:ext>
            </a:extLst>
          </p:cNvPr>
          <p:cNvSpPr>
            <a:spLocks noGrp="1"/>
          </p:cNvSpPr>
          <p:nvPr>
            <p:ph type="dt" sz="half" idx="10"/>
          </p:nvPr>
        </p:nvSpPr>
        <p:spPr/>
        <p:txBody>
          <a:body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03FADD6B-C442-464C-A50C-829AE99D241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1254A8A-C91F-4103-B237-334631E21F5F}"/>
              </a:ext>
            </a:extLst>
          </p:cNvPr>
          <p:cNvSpPr>
            <a:spLocks noGrp="1"/>
          </p:cNvSpPr>
          <p:nvPr>
            <p:ph type="sldNum" sz="quarter" idx="12"/>
          </p:nvPr>
        </p:nvSpPr>
        <p:spPr/>
        <p:txBody>
          <a:bodyPr/>
          <a:lstStyle/>
          <a:p>
            <a:fld id="{D35C6B40-9F05-449B-B1DE-0BEDD61D731C}" type="slidenum">
              <a:rPr lang="ru-RU" smtClean="0"/>
              <a:t>‹#›</a:t>
            </a:fld>
            <a:endParaRPr lang="ru-RU"/>
          </a:p>
        </p:txBody>
      </p:sp>
    </p:spTree>
    <p:extLst>
      <p:ext uri="{BB962C8B-B14F-4D97-AF65-F5344CB8AC3E}">
        <p14:creationId xmlns:p14="http://schemas.microsoft.com/office/powerpoint/2010/main" val="2785653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D7209A-E25E-4383-A582-EF1493CEF2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ED02D7EC-18B5-4665-B83C-51F8D5D53B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F863B41-43B8-4515-81CD-1E12613EFC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054FB-758D-4003-AC70-40F962AF3A9B}" type="datetimeFigureOut">
              <a:rPr lang="ru-RU" smtClean="0"/>
              <a:t>21.08.2025</a:t>
            </a:fld>
            <a:endParaRPr lang="ru-RU"/>
          </a:p>
        </p:txBody>
      </p:sp>
      <p:sp>
        <p:nvSpPr>
          <p:cNvPr id="5" name="Нижний колонтитул 4">
            <a:extLst>
              <a:ext uri="{FF2B5EF4-FFF2-40B4-BE49-F238E27FC236}">
                <a16:creationId xmlns:a16="http://schemas.microsoft.com/office/drawing/2014/main" id="{FA3FFFAC-24D7-4041-84E0-97EA2C4DB8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1864518-17F5-4CCB-898F-820A89E40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5C6B40-9F05-449B-B1DE-0BEDD61D731C}" type="slidenum">
              <a:rPr lang="ru-RU" smtClean="0"/>
              <a:t>‹#›</a:t>
            </a:fld>
            <a:endParaRPr lang="ru-RU"/>
          </a:p>
        </p:txBody>
      </p:sp>
    </p:spTree>
    <p:extLst>
      <p:ext uri="{BB962C8B-B14F-4D97-AF65-F5344CB8AC3E}">
        <p14:creationId xmlns:p14="http://schemas.microsoft.com/office/powerpoint/2010/main" val="481093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0CC367-6E87-4E2B-A135-6E2F7C60A07E}"/>
              </a:ext>
            </a:extLst>
          </p:cNvPr>
          <p:cNvSpPr>
            <a:spLocks noGrp="1"/>
          </p:cNvSpPr>
          <p:nvPr>
            <p:ph type="title"/>
          </p:nvPr>
        </p:nvSpPr>
        <p:spPr/>
        <p:txBody>
          <a:bodyPr>
            <a:normAutofit/>
          </a:bodyPr>
          <a:lstStyle/>
          <a:p>
            <a:r>
              <a:rPr lang="ru-RU" sz="2400" b="1" dirty="0">
                <a:latin typeface="Times New Roman" panose="02020603050405020304" pitchFamily="18" charset="0"/>
                <a:cs typeface="Times New Roman" panose="02020603050405020304" pitchFamily="18" charset="0"/>
              </a:rPr>
              <a:t>Цель</a:t>
            </a:r>
            <a:r>
              <a:rPr lang="en-US" sz="2400" b="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провести сравнительный анализ успеваемости по математическим дисциплинам студентов, обучающихся по разным планам по направлению подготовки ПИН, с учетом их начальной подготовки</a:t>
            </a:r>
          </a:p>
        </p:txBody>
      </p:sp>
      <p:sp>
        <p:nvSpPr>
          <p:cNvPr id="3" name="Объект 2">
            <a:extLst>
              <a:ext uri="{FF2B5EF4-FFF2-40B4-BE49-F238E27FC236}">
                <a16:creationId xmlns:a16="http://schemas.microsoft.com/office/drawing/2014/main" id="{87AD75C5-9332-4D43-96E6-70A1A10A2B9F}"/>
              </a:ext>
            </a:extLst>
          </p:cNvPr>
          <p:cNvSpPr>
            <a:spLocks noGrp="1"/>
          </p:cNvSpPr>
          <p:nvPr>
            <p:ph idx="1"/>
          </p:nvPr>
        </p:nvSpPr>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План:</a:t>
            </a:r>
          </a:p>
          <a:p>
            <a:pPr marL="457200" indent="-457200">
              <a:buFont typeface="+mj-lt"/>
              <a:buAutoNum type="arabicPeriod"/>
            </a:pPr>
            <a:r>
              <a:rPr lang="ru-RU" sz="2400" dirty="0">
                <a:latin typeface="Times New Roman" panose="02020603050405020304" pitchFamily="18" charset="0"/>
                <a:cs typeface="Times New Roman" panose="02020603050405020304" pitchFamily="18" charset="0"/>
              </a:rPr>
              <a:t>Подготовка к анализу</a:t>
            </a:r>
          </a:p>
          <a:p>
            <a:pPr marL="457200" indent="-457200">
              <a:buFont typeface="+mj-lt"/>
              <a:buAutoNum type="arabicPeriod"/>
            </a:pPr>
            <a:r>
              <a:rPr lang="ru-RU" sz="2400" dirty="0">
                <a:latin typeface="Times New Roman" panose="02020603050405020304" pitchFamily="18" charset="0"/>
                <a:cs typeface="Times New Roman" panose="02020603050405020304" pitchFamily="18" charset="0"/>
              </a:rPr>
              <a:t>Анализ успеваемости в первом семестре. Вычисление поправочного коэффициента на начальную подготовку</a:t>
            </a:r>
          </a:p>
          <a:p>
            <a:pPr marL="457200" indent="-457200">
              <a:buFont typeface="+mj-lt"/>
              <a:buAutoNum type="arabicPeriod"/>
            </a:pPr>
            <a:r>
              <a:rPr lang="ru-RU" sz="2400" dirty="0">
                <a:latin typeface="Times New Roman" panose="02020603050405020304" pitchFamily="18" charset="0"/>
                <a:cs typeface="Times New Roman" panose="02020603050405020304" pitchFamily="18" charset="0"/>
              </a:rPr>
              <a:t>Анализ предметов ДМ, </a:t>
            </a:r>
            <a:r>
              <a:rPr lang="ru-RU" sz="2400" dirty="0" err="1">
                <a:latin typeface="Times New Roman" panose="02020603050405020304" pitchFamily="18" charset="0"/>
                <a:cs typeface="Times New Roman" panose="02020603050405020304" pitchFamily="18" charset="0"/>
              </a:rPr>
              <a:t>ТВиМС</a:t>
            </a:r>
            <a:r>
              <a:rPr lang="ru-RU" sz="2400" dirty="0">
                <a:latin typeface="Times New Roman" panose="02020603050405020304" pitchFamily="18" charset="0"/>
                <a:cs typeface="Times New Roman" panose="02020603050405020304" pitchFamily="18" charset="0"/>
              </a:rPr>
              <a:t>, ДУ </a:t>
            </a:r>
          </a:p>
          <a:p>
            <a:pPr marL="457200" indent="-457200">
              <a:buFont typeface="+mj-lt"/>
              <a:buAutoNum type="arabicPeriod"/>
            </a:pPr>
            <a:r>
              <a:rPr lang="ru-RU" sz="2400" dirty="0">
                <a:latin typeface="Times New Roman" panose="02020603050405020304" pitchFamily="18" charset="0"/>
                <a:cs typeface="Times New Roman" panose="02020603050405020304" pitchFamily="18" charset="0"/>
              </a:rPr>
              <a:t>Анализ предметов МА, СРМА</a:t>
            </a:r>
          </a:p>
          <a:p>
            <a:pPr marL="457200" indent="-457200">
              <a:buFont typeface="+mj-lt"/>
              <a:buAutoNum type="arabicPeriod"/>
            </a:pPr>
            <a:r>
              <a:rPr lang="ru-RU" sz="2400" dirty="0">
                <a:latin typeface="Times New Roman" panose="02020603050405020304" pitchFamily="18" charset="0"/>
                <a:cs typeface="Times New Roman" panose="02020603050405020304" pitchFamily="18" charset="0"/>
              </a:rPr>
              <a:t>Вывод</a:t>
            </a:r>
          </a:p>
        </p:txBody>
      </p:sp>
    </p:spTree>
    <p:extLst>
      <p:ext uri="{BB962C8B-B14F-4D97-AF65-F5344CB8AC3E}">
        <p14:creationId xmlns:p14="http://schemas.microsoft.com/office/powerpoint/2010/main" val="98157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1A688AAC-516B-4084-9E8B-421962BEB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999" y="576066"/>
            <a:ext cx="9016002" cy="5705867"/>
          </a:xfrm>
          <a:prstGeom prst="rect">
            <a:avLst/>
          </a:prstGeom>
        </p:spPr>
      </p:pic>
    </p:spTree>
    <p:extLst>
      <p:ext uri="{BB962C8B-B14F-4D97-AF65-F5344CB8AC3E}">
        <p14:creationId xmlns:p14="http://schemas.microsoft.com/office/powerpoint/2010/main" val="1271450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04C6CFF-E0C4-4894-AD90-0D04089BF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334" y="0"/>
            <a:ext cx="9231331" cy="6858000"/>
          </a:xfrm>
          <a:prstGeom prst="rect">
            <a:avLst/>
          </a:prstGeom>
        </p:spPr>
      </p:pic>
    </p:spTree>
    <p:extLst>
      <p:ext uri="{BB962C8B-B14F-4D97-AF65-F5344CB8AC3E}">
        <p14:creationId xmlns:p14="http://schemas.microsoft.com/office/powerpoint/2010/main" val="422363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9E06B0A8-5F54-4487-8B18-E68BFF15B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6349" y="30633"/>
            <a:ext cx="9467851" cy="3336223"/>
          </a:xfrm>
          <a:prstGeom prst="rect">
            <a:avLst/>
          </a:prstGeom>
        </p:spPr>
      </p:pic>
      <p:pic>
        <p:nvPicPr>
          <p:cNvPr id="5" name="Рисунок 4">
            <a:extLst>
              <a:ext uri="{FF2B5EF4-FFF2-40B4-BE49-F238E27FC236}">
                <a16:creationId xmlns:a16="http://schemas.microsoft.com/office/drawing/2014/main" id="{C6ACA9CA-8E6F-4E6C-B5D5-09997C825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3437437"/>
            <a:ext cx="9372600" cy="3420563"/>
          </a:xfrm>
          <a:prstGeom prst="rect">
            <a:avLst/>
          </a:prstGeom>
        </p:spPr>
      </p:pic>
    </p:spTree>
    <p:extLst>
      <p:ext uri="{BB962C8B-B14F-4D97-AF65-F5344CB8AC3E}">
        <p14:creationId xmlns:p14="http://schemas.microsoft.com/office/powerpoint/2010/main" val="2790372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27D38790-0CD6-4476-8E00-ADA166B423A8}"/>
              </a:ext>
            </a:extLst>
          </p:cNvPr>
          <p:cNvPicPr>
            <a:picLocks noChangeAspect="1"/>
          </p:cNvPicPr>
          <p:nvPr/>
        </p:nvPicPr>
        <p:blipFill>
          <a:blip r:embed="rId2"/>
          <a:stretch>
            <a:fillRect/>
          </a:stretch>
        </p:blipFill>
        <p:spPr>
          <a:xfrm>
            <a:off x="2628900" y="1814379"/>
            <a:ext cx="6467475" cy="4745367"/>
          </a:xfrm>
          <a:prstGeom prst="rect">
            <a:avLst/>
          </a:prstGeom>
        </p:spPr>
      </p:pic>
      <p:sp>
        <p:nvSpPr>
          <p:cNvPr id="4" name="Заголовок 1">
            <a:extLst>
              <a:ext uri="{FF2B5EF4-FFF2-40B4-BE49-F238E27FC236}">
                <a16:creationId xmlns:a16="http://schemas.microsoft.com/office/drawing/2014/main" id="{DF7ABCBD-7E8F-4A02-AA01-C2EEB2040FA7}"/>
              </a:ext>
            </a:extLst>
          </p:cNvPr>
          <p:cNvSpPr txBox="1">
            <a:spLocks/>
          </p:cNvSpPr>
          <p:nvPr/>
        </p:nvSpPr>
        <p:spPr>
          <a:xfrm>
            <a:off x="771525" y="150888"/>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dirty="0"/>
              <a:t>Анализ успеваемости по первому семестру</a:t>
            </a:r>
          </a:p>
        </p:txBody>
      </p:sp>
      <p:sp>
        <p:nvSpPr>
          <p:cNvPr id="5" name="TextBox 4">
            <a:extLst>
              <a:ext uri="{FF2B5EF4-FFF2-40B4-BE49-F238E27FC236}">
                <a16:creationId xmlns:a16="http://schemas.microsoft.com/office/drawing/2014/main" id="{80D50FF7-22C7-4429-A30B-768955322D38}"/>
              </a:ext>
            </a:extLst>
          </p:cNvPr>
          <p:cNvSpPr txBox="1"/>
          <p:nvPr/>
        </p:nvSpPr>
        <p:spPr>
          <a:xfrm>
            <a:off x="3514460" y="953231"/>
            <a:ext cx="5163080" cy="523220"/>
          </a:xfrm>
          <a:prstGeom prst="rect">
            <a:avLst/>
          </a:prstGeom>
          <a:noFill/>
        </p:spPr>
        <p:txBody>
          <a:bodyPr wrap="none" rtlCol="0">
            <a:spAutoFit/>
          </a:bodyPr>
          <a:lstStyle/>
          <a:p>
            <a:r>
              <a:rPr lang="ru-RU" sz="2800" dirty="0">
                <a:latin typeface="Arial" panose="020B0604020202020204" pitchFamily="34" charset="0"/>
                <a:cs typeface="Arial" panose="020B0604020202020204" pitchFamily="34" charset="0"/>
              </a:rPr>
              <a:t>Сравним результаты по ОМА:</a:t>
            </a:r>
          </a:p>
        </p:txBody>
      </p:sp>
    </p:spTree>
    <p:extLst>
      <p:ext uri="{BB962C8B-B14F-4D97-AF65-F5344CB8AC3E}">
        <p14:creationId xmlns:p14="http://schemas.microsoft.com/office/powerpoint/2010/main" val="2604049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FA482218-5B3A-4FE5-A10D-A23E1753E57F}"/>
              </a:ext>
            </a:extLst>
          </p:cNvPr>
          <p:cNvSpPr/>
          <p:nvPr/>
        </p:nvSpPr>
        <p:spPr>
          <a:xfrm>
            <a:off x="3054355" y="1519742"/>
            <a:ext cx="6202534" cy="646331"/>
          </a:xfrm>
          <a:prstGeom prst="rect">
            <a:avLst/>
          </a:prstGeom>
        </p:spPr>
        <p:txBody>
          <a:bodyPr wrap="square">
            <a:spAutoFit/>
          </a:bodyPr>
          <a:lstStyle/>
          <a:p>
            <a:r>
              <a:rPr lang="ru-RU" b="0" i="0" dirty="0">
                <a:solidFill>
                  <a:srgbClr val="1F1F1F"/>
                </a:solidFill>
                <a:effectLst/>
                <a:latin typeface="Courier New" panose="02070309020205020404" pitchFamily="49" charset="0"/>
              </a:rPr>
              <a:t>Коэффициент асимметрии для плана 1: -0.62714 Коэффициент асимметрии для плана 2: -0.32644</a:t>
            </a:r>
            <a:endParaRPr lang="ru-RU" dirty="0"/>
          </a:p>
        </p:txBody>
      </p:sp>
      <p:sp>
        <p:nvSpPr>
          <p:cNvPr id="7" name="Прямоугольник 6">
            <a:extLst>
              <a:ext uri="{FF2B5EF4-FFF2-40B4-BE49-F238E27FC236}">
                <a16:creationId xmlns:a16="http://schemas.microsoft.com/office/drawing/2014/main" id="{BF224581-1C22-4502-A089-8F4A29A823A0}"/>
              </a:ext>
            </a:extLst>
          </p:cNvPr>
          <p:cNvSpPr/>
          <p:nvPr/>
        </p:nvSpPr>
        <p:spPr>
          <a:xfrm>
            <a:off x="3054355" y="2082554"/>
            <a:ext cx="4311589" cy="646331"/>
          </a:xfrm>
          <a:prstGeom prst="rect">
            <a:avLst/>
          </a:prstGeom>
        </p:spPr>
        <p:txBody>
          <a:bodyPr wrap="square">
            <a:spAutoFit/>
          </a:bodyPr>
          <a:lstStyle/>
          <a:p>
            <a:r>
              <a:rPr lang="ru-RU" b="0" i="0" dirty="0">
                <a:solidFill>
                  <a:srgbClr val="1F1F1F"/>
                </a:solidFill>
                <a:effectLst/>
                <a:latin typeface="Courier New" panose="02070309020205020404" pitchFamily="49" charset="0"/>
              </a:rPr>
              <a:t>Медиана для плана 1: 0.513 Медиана для плана 2: 0.5155000</a:t>
            </a:r>
            <a:endParaRPr lang="ru-RU" dirty="0"/>
          </a:p>
        </p:txBody>
      </p:sp>
      <p:sp>
        <p:nvSpPr>
          <p:cNvPr id="8" name="TextBox 7">
            <a:extLst>
              <a:ext uri="{FF2B5EF4-FFF2-40B4-BE49-F238E27FC236}">
                <a16:creationId xmlns:a16="http://schemas.microsoft.com/office/drawing/2014/main" id="{EE7257CB-9723-4843-ACD1-BF4E238C22D5}"/>
              </a:ext>
            </a:extLst>
          </p:cNvPr>
          <p:cNvSpPr txBox="1"/>
          <p:nvPr/>
        </p:nvSpPr>
        <p:spPr>
          <a:xfrm>
            <a:off x="3419210" y="726263"/>
            <a:ext cx="5163080" cy="523220"/>
          </a:xfrm>
          <a:prstGeom prst="rect">
            <a:avLst/>
          </a:prstGeom>
          <a:noFill/>
        </p:spPr>
        <p:txBody>
          <a:bodyPr wrap="none" rtlCol="0">
            <a:spAutoFit/>
          </a:bodyPr>
          <a:lstStyle/>
          <a:p>
            <a:r>
              <a:rPr lang="ru-RU" sz="2800" dirty="0">
                <a:latin typeface="Arial" panose="020B0604020202020204" pitchFamily="34" charset="0"/>
                <a:cs typeface="Arial" panose="020B0604020202020204" pitchFamily="34" charset="0"/>
              </a:rPr>
              <a:t>Сравним результаты по ОМА:</a:t>
            </a:r>
          </a:p>
        </p:txBody>
      </p:sp>
      <p:sp>
        <p:nvSpPr>
          <p:cNvPr id="12" name="Прямоугольник 11">
            <a:extLst>
              <a:ext uri="{FF2B5EF4-FFF2-40B4-BE49-F238E27FC236}">
                <a16:creationId xmlns:a16="http://schemas.microsoft.com/office/drawing/2014/main" id="{C6BE496A-3566-42AB-A745-9E9E388F28C0}"/>
              </a:ext>
            </a:extLst>
          </p:cNvPr>
          <p:cNvSpPr/>
          <p:nvPr/>
        </p:nvSpPr>
        <p:spPr>
          <a:xfrm>
            <a:off x="3054355" y="3429000"/>
            <a:ext cx="6593632" cy="2031325"/>
          </a:xfrm>
          <a:prstGeom prst="rect">
            <a:avLst/>
          </a:prstGeom>
        </p:spPr>
        <p:txBody>
          <a:bodyPr wrap="square">
            <a:spAutoFit/>
          </a:bodyPr>
          <a:lstStyle/>
          <a:p>
            <a:r>
              <a:rPr lang="ru-RU" b="0" i="0" dirty="0">
                <a:solidFill>
                  <a:srgbClr val="1F1F1F"/>
                </a:solidFill>
                <a:effectLst/>
                <a:latin typeface="Courier New" panose="02070309020205020404" pitchFamily="49" charset="0"/>
              </a:rPr>
              <a:t>Математическое ожидание OMA_res_1: 0.5162 Математическое ожидание OMA_res_2: 0.4954</a:t>
            </a:r>
            <a:endParaRPr lang="en-US" b="0" i="0" dirty="0">
              <a:solidFill>
                <a:srgbClr val="1F1F1F"/>
              </a:solidFill>
              <a:effectLst/>
              <a:latin typeface="Courier New" panose="02070309020205020404" pitchFamily="49" charset="0"/>
            </a:endParaRPr>
          </a:p>
          <a:p>
            <a:endParaRPr lang="en-US" dirty="0">
              <a:solidFill>
                <a:srgbClr val="1F1F1F"/>
              </a:solidFill>
              <a:latin typeface="Times New Roman" panose="02020603050405020304" pitchFamily="18" charset="0"/>
              <a:cs typeface="Times New Roman" panose="02020603050405020304" pitchFamily="18" charset="0"/>
            </a:endParaRPr>
          </a:p>
          <a:p>
            <a:r>
              <a:rPr lang="ru-RU" dirty="0">
                <a:solidFill>
                  <a:srgbClr val="1F1F1F"/>
                </a:solidFill>
                <a:latin typeface="Times New Roman" panose="02020603050405020304" pitchFamily="18" charset="0"/>
                <a:ea typeface="Calibri" panose="020F0502020204030204" pitchFamily="34" charset="0"/>
                <a:cs typeface="Times New Roman" panose="02020603050405020304" pitchFamily="18" charset="0"/>
              </a:rPr>
              <a:t>Проверим гипотезу о равенстве математических ожиданий. При двусторонней альтернативе:</a:t>
            </a:r>
            <a:endParaRPr lang="en-US" dirty="0">
              <a:solidFill>
                <a:srgbClr val="1F1F1F"/>
              </a:solidFill>
              <a:latin typeface="Times New Roman" panose="02020603050405020304" pitchFamily="18" charset="0"/>
              <a:ea typeface="Calibri" panose="020F0502020204030204" pitchFamily="34" charset="0"/>
              <a:cs typeface="Times New Roman" panose="02020603050405020304" pitchFamily="18" charset="0"/>
            </a:endParaRPr>
          </a:p>
          <a:p>
            <a:r>
              <a:rPr lang="ru-RU" b="0" i="0" dirty="0">
                <a:solidFill>
                  <a:srgbClr val="1F1F1F"/>
                </a:solidFill>
                <a:effectLst/>
                <a:latin typeface="Courier New" panose="02070309020205020404" pitchFamily="49" charset="0"/>
              </a:rPr>
              <a:t>p-значение: 0.3542</a:t>
            </a:r>
          </a:p>
          <a:p>
            <a:r>
              <a:rPr lang="ru-RU" dirty="0">
                <a:latin typeface="Times New Roman" panose="02020603050405020304" pitchFamily="18" charset="0"/>
                <a:cs typeface="Times New Roman" panose="02020603050405020304" pitchFamily="18" charset="0"/>
              </a:rPr>
              <a:t>Гипотезу о равенстве не отвергаем</a:t>
            </a:r>
          </a:p>
        </p:txBody>
      </p:sp>
      <p:sp>
        <p:nvSpPr>
          <p:cNvPr id="22" name="Прямоугольник 21">
            <a:extLst>
              <a:ext uri="{FF2B5EF4-FFF2-40B4-BE49-F238E27FC236}">
                <a16:creationId xmlns:a16="http://schemas.microsoft.com/office/drawing/2014/main" id="{87788B99-599C-41E6-B308-73760C5C2489}"/>
              </a:ext>
            </a:extLst>
          </p:cNvPr>
          <p:cNvSpPr/>
          <p:nvPr/>
        </p:nvSpPr>
        <p:spPr>
          <a:xfrm>
            <a:off x="3054355" y="2706592"/>
            <a:ext cx="6096000" cy="646331"/>
          </a:xfrm>
          <a:prstGeom prst="rect">
            <a:avLst/>
          </a:prstGeom>
        </p:spPr>
        <p:txBody>
          <a:bodyPr>
            <a:spAutoFit/>
          </a:bodyPr>
          <a:lstStyle/>
          <a:p>
            <a:r>
              <a:rPr lang="ru-RU" b="0" i="0" dirty="0">
                <a:solidFill>
                  <a:srgbClr val="1F1F1F"/>
                </a:solidFill>
                <a:effectLst/>
                <a:latin typeface="Courier New" panose="02070309020205020404" pitchFamily="49" charset="0"/>
              </a:rPr>
              <a:t>Количество не сдавших в 22-м году 31 Количество не сдавших в 23-м году 49</a:t>
            </a:r>
            <a:endParaRPr lang="ru-RU" dirty="0"/>
          </a:p>
        </p:txBody>
      </p:sp>
    </p:spTree>
    <p:extLst>
      <p:ext uri="{BB962C8B-B14F-4D97-AF65-F5344CB8AC3E}">
        <p14:creationId xmlns:p14="http://schemas.microsoft.com/office/powerpoint/2010/main" val="2377035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11B3A445-BB6E-43D2-B0A3-A9FD3239628D}"/>
              </a:ext>
            </a:extLst>
          </p:cNvPr>
          <p:cNvSpPr>
            <a:spLocks noChangeArrowheads="1"/>
          </p:cNvSpPr>
          <p:nvPr/>
        </p:nvSpPr>
        <p:spPr bwMode="auto">
          <a:xfrm rot="10800000" flipV="1">
            <a:off x="3126888" y="3449716"/>
            <a:ext cx="6536838"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Примем H0: p1 = p2, при альтернативной p1 &lt; p2 (вероятность получить "незачет" в 22-м году меньше, чем в 23-м)</a:t>
            </a:r>
            <a:endPar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Прямоугольник 11">
            <a:extLst>
              <a:ext uri="{FF2B5EF4-FFF2-40B4-BE49-F238E27FC236}">
                <a16:creationId xmlns:a16="http://schemas.microsoft.com/office/drawing/2014/main" id="{863BC834-0985-4D6A-BB63-198271E964C2}"/>
              </a:ext>
            </a:extLst>
          </p:cNvPr>
          <p:cNvSpPr/>
          <p:nvPr/>
        </p:nvSpPr>
        <p:spPr>
          <a:xfrm>
            <a:off x="3126888" y="4034491"/>
            <a:ext cx="5423280" cy="369332"/>
          </a:xfrm>
          <a:prstGeom prst="rect">
            <a:avLst/>
          </a:prstGeom>
        </p:spPr>
        <p:txBody>
          <a:bodyPr wrap="none">
            <a:spAutoFit/>
          </a:bodyPr>
          <a:lstStyle/>
          <a:p>
            <a:r>
              <a:rPr lang="en-US" b="0" i="0" dirty="0">
                <a:solidFill>
                  <a:srgbClr val="1F1F1F"/>
                </a:solidFill>
                <a:effectLst/>
                <a:latin typeface="Courier New" panose="02070309020205020404" pitchFamily="49" charset="0"/>
              </a:rPr>
              <a:t>Z-</a:t>
            </a:r>
            <a:r>
              <a:rPr lang="ru-RU" b="0" i="0" dirty="0">
                <a:solidFill>
                  <a:srgbClr val="1F1F1F"/>
                </a:solidFill>
                <a:effectLst/>
                <a:latin typeface="Courier New" panose="02070309020205020404" pitchFamily="49" charset="0"/>
              </a:rPr>
              <a:t>статистика: -2.4882, </a:t>
            </a:r>
            <a:r>
              <a:rPr lang="en-US" b="0" i="0" dirty="0">
                <a:solidFill>
                  <a:srgbClr val="1F1F1F"/>
                </a:solidFill>
                <a:effectLst/>
                <a:latin typeface="Courier New" panose="02070309020205020404" pitchFamily="49" charset="0"/>
              </a:rPr>
              <a:t>p-value: 0.0064</a:t>
            </a:r>
            <a:endParaRPr lang="ru-RU" dirty="0"/>
          </a:p>
        </p:txBody>
      </p:sp>
      <p:sp>
        <p:nvSpPr>
          <p:cNvPr id="13" name="Прямоугольник 12">
            <a:extLst>
              <a:ext uri="{FF2B5EF4-FFF2-40B4-BE49-F238E27FC236}">
                <a16:creationId xmlns:a16="http://schemas.microsoft.com/office/drawing/2014/main" id="{8E7C91D1-87C2-466F-B8A2-43FAB9C3DE6D}"/>
              </a:ext>
            </a:extLst>
          </p:cNvPr>
          <p:cNvSpPr/>
          <p:nvPr/>
        </p:nvSpPr>
        <p:spPr>
          <a:xfrm>
            <a:off x="3126888" y="4403823"/>
            <a:ext cx="6457950" cy="584775"/>
          </a:xfrm>
          <a:prstGeom prst="rect">
            <a:avLst/>
          </a:prstGeom>
        </p:spPr>
        <p:txBody>
          <a:bodyPr wrap="square">
            <a:spAutoFit/>
          </a:bodyPr>
          <a:lstStyle/>
          <a:p>
            <a:pPr algn="just"/>
            <a:r>
              <a:rPr lang="ru-RU" sz="1600" b="0" i="0" dirty="0">
                <a:solidFill>
                  <a:srgbClr val="1F1F1F"/>
                </a:solidFill>
                <a:effectLst/>
                <a:latin typeface="Times New Roman" panose="02020603050405020304" pitchFamily="18" charset="0"/>
                <a:cs typeface="Times New Roman" panose="02020603050405020304" pitchFamily="18" charset="0"/>
              </a:rPr>
              <a:t>Понятно, что гипотезу H0 стоит отвергнуть в пользу альтернативной. Очевидно, что в 22-м году "двойки" в итоге получали реже</a:t>
            </a:r>
            <a:endParaRPr lang="ru-RU"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3323AC3-C3B5-468E-8A45-F4A00ADAC6D9}"/>
              </a:ext>
            </a:extLst>
          </p:cNvPr>
          <p:cNvSpPr txBox="1"/>
          <p:nvPr/>
        </p:nvSpPr>
        <p:spPr>
          <a:xfrm>
            <a:off x="3126888" y="1880055"/>
            <a:ext cx="6762750" cy="83099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Интересно также посмотреть в каком году вероятность не получить зачет больше (назовем вероятности p1 и p2), для этого используем метод пропорций</a:t>
            </a:r>
            <a:endParaRPr kumimoji="0" lang="ru-RU" alt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Прямоугольник 14">
            <a:extLst>
              <a:ext uri="{FF2B5EF4-FFF2-40B4-BE49-F238E27FC236}">
                <a16:creationId xmlns:a16="http://schemas.microsoft.com/office/drawing/2014/main" id="{B6A19462-74EF-4A10-95D9-224B4E6E6DCD}"/>
              </a:ext>
            </a:extLst>
          </p:cNvPr>
          <p:cNvSpPr/>
          <p:nvPr/>
        </p:nvSpPr>
        <p:spPr>
          <a:xfrm>
            <a:off x="3126888" y="2757218"/>
            <a:ext cx="6096000" cy="646331"/>
          </a:xfrm>
          <a:prstGeom prst="rect">
            <a:avLst/>
          </a:prstGeom>
        </p:spPr>
        <p:txBody>
          <a:bodyPr>
            <a:spAutoFit/>
          </a:bodyPr>
          <a:lstStyle/>
          <a:p>
            <a:r>
              <a:rPr lang="ru-RU" b="0" i="0" dirty="0">
                <a:solidFill>
                  <a:srgbClr val="1F1F1F"/>
                </a:solidFill>
                <a:effectLst/>
                <a:latin typeface="Courier New" panose="02070309020205020404" pitchFamily="49" charset="0"/>
              </a:rPr>
              <a:t>Количество не сдавших в 22-м году 31 Количество не сдавших в 23-м году 49</a:t>
            </a:r>
            <a:endParaRPr lang="ru-RU" dirty="0"/>
          </a:p>
        </p:txBody>
      </p:sp>
      <p:sp>
        <p:nvSpPr>
          <p:cNvPr id="16" name="TextBox 15">
            <a:extLst>
              <a:ext uri="{FF2B5EF4-FFF2-40B4-BE49-F238E27FC236}">
                <a16:creationId xmlns:a16="http://schemas.microsoft.com/office/drawing/2014/main" id="{37082D98-A5B3-444F-9566-A36105C32A0D}"/>
              </a:ext>
            </a:extLst>
          </p:cNvPr>
          <p:cNvSpPr txBox="1"/>
          <p:nvPr/>
        </p:nvSpPr>
        <p:spPr>
          <a:xfrm>
            <a:off x="3485885" y="1018815"/>
            <a:ext cx="5163080" cy="523220"/>
          </a:xfrm>
          <a:prstGeom prst="rect">
            <a:avLst/>
          </a:prstGeom>
          <a:noFill/>
        </p:spPr>
        <p:txBody>
          <a:bodyPr wrap="none" rtlCol="0">
            <a:spAutoFit/>
          </a:bodyPr>
          <a:lstStyle/>
          <a:p>
            <a:r>
              <a:rPr lang="ru-RU" sz="2800" dirty="0">
                <a:latin typeface="Arial" panose="020B0604020202020204" pitchFamily="34" charset="0"/>
                <a:cs typeface="Arial" panose="020B0604020202020204" pitchFamily="34" charset="0"/>
              </a:rPr>
              <a:t>Сравним результаты по ОМА:</a:t>
            </a:r>
          </a:p>
        </p:txBody>
      </p:sp>
    </p:spTree>
    <p:extLst>
      <p:ext uri="{BB962C8B-B14F-4D97-AF65-F5344CB8AC3E}">
        <p14:creationId xmlns:p14="http://schemas.microsoft.com/office/powerpoint/2010/main" val="365475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EFEBB3EC-BCA4-452E-8A3F-E861787F3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130" y="1470711"/>
            <a:ext cx="5565354" cy="2763938"/>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a:extLst>
              <a:ext uri="{FF2B5EF4-FFF2-40B4-BE49-F238E27FC236}">
                <a16:creationId xmlns:a16="http://schemas.microsoft.com/office/drawing/2014/main" id="{827BE56F-3BFB-4F1C-AE21-325AE4E69792}"/>
              </a:ext>
            </a:extLst>
          </p:cNvPr>
          <p:cNvSpPr/>
          <p:nvPr/>
        </p:nvSpPr>
        <p:spPr>
          <a:xfrm>
            <a:off x="571130" y="399897"/>
            <a:ext cx="11475868" cy="646331"/>
          </a:xfrm>
          <a:prstGeom prst="rect">
            <a:avLst/>
          </a:prstGeom>
        </p:spPr>
        <p:txBody>
          <a:bodyPr wrap="square">
            <a:spAutoFit/>
          </a:bodyPr>
          <a:lstStyle/>
          <a:p>
            <a:r>
              <a:rPr lang="ru-RU" dirty="0">
                <a:solidFill>
                  <a:srgbClr val="1F1F1F"/>
                </a:solidFill>
                <a:latin typeface="Times New Roman" panose="02020603050405020304" pitchFamily="18" charset="0"/>
                <a:cs typeface="Times New Roman" panose="02020603050405020304" pitchFamily="18" charset="0"/>
              </a:rPr>
              <a:t>Часто случайные выбросы могут серьезно изменять общую картину. Поэтому мы рассмотрим усредненные данные, убирая часть данных, с помощью метода </a:t>
            </a:r>
            <a:r>
              <a:rPr lang="ru-RU" dirty="0" err="1">
                <a:solidFill>
                  <a:srgbClr val="1F1F1F"/>
                </a:solidFill>
                <a:latin typeface="Times New Roman" panose="02020603050405020304" pitchFamily="18" charset="0"/>
                <a:cs typeface="Times New Roman" panose="02020603050405020304" pitchFamily="18" charset="0"/>
              </a:rPr>
              <a:t>межквартильного</a:t>
            </a:r>
            <a:r>
              <a:rPr lang="ru-RU" dirty="0">
                <a:solidFill>
                  <a:srgbClr val="1F1F1F"/>
                </a:solidFill>
                <a:latin typeface="Times New Roman" panose="02020603050405020304" pitchFamily="18" charset="0"/>
                <a:cs typeface="Times New Roman" panose="02020603050405020304" pitchFamily="18" charset="0"/>
              </a:rPr>
              <a:t> размаха</a:t>
            </a:r>
            <a:endParaRPr lang="ru-RU" dirty="0">
              <a:latin typeface="Times New Roman" panose="02020603050405020304" pitchFamily="18" charset="0"/>
              <a:cs typeface="Times New Roman" panose="02020603050405020304" pitchFamily="18" charset="0"/>
            </a:endParaRPr>
          </a:p>
        </p:txBody>
      </p:sp>
      <p:sp>
        <p:nvSpPr>
          <p:cNvPr id="4" name="Прямоугольник 3">
            <a:extLst>
              <a:ext uri="{FF2B5EF4-FFF2-40B4-BE49-F238E27FC236}">
                <a16:creationId xmlns:a16="http://schemas.microsoft.com/office/drawing/2014/main" id="{C17B7C62-6441-494C-9F42-39EB04FE3338}"/>
              </a:ext>
            </a:extLst>
          </p:cNvPr>
          <p:cNvSpPr/>
          <p:nvPr/>
        </p:nvSpPr>
        <p:spPr>
          <a:xfrm>
            <a:off x="437489" y="4382133"/>
            <a:ext cx="5698995" cy="338554"/>
          </a:xfrm>
          <a:prstGeom prst="rect">
            <a:avLst/>
          </a:prstGeom>
        </p:spPr>
        <p:txBody>
          <a:bodyPr wrap="square">
            <a:spAutoFit/>
          </a:bodyPr>
          <a:lstStyle/>
          <a:p>
            <a:r>
              <a:rPr lang="ru-RU" sz="1600" b="0" i="0" dirty="0">
                <a:solidFill>
                  <a:srgbClr val="1F1F1F"/>
                </a:solidFill>
                <a:effectLst/>
                <a:latin typeface="Courier New" panose="02070309020205020404" pitchFamily="49" charset="0"/>
              </a:rPr>
              <a:t>Удалено выбросов: 19 Осталось точек: 124</a:t>
            </a:r>
            <a:endParaRPr lang="ru-RU" sz="1600" dirty="0"/>
          </a:p>
        </p:txBody>
      </p:sp>
      <p:pic>
        <p:nvPicPr>
          <p:cNvPr id="5" name="Picture 2">
            <a:extLst>
              <a:ext uri="{FF2B5EF4-FFF2-40B4-BE49-F238E27FC236}">
                <a16:creationId xmlns:a16="http://schemas.microsoft.com/office/drawing/2014/main" id="{56DDCC63-91B6-474F-A709-B822394B9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9063" y="1470712"/>
            <a:ext cx="5570039" cy="2763938"/>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a:extLst>
              <a:ext uri="{FF2B5EF4-FFF2-40B4-BE49-F238E27FC236}">
                <a16:creationId xmlns:a16="http://schemas.microsoft.com/office/drawing/2014/main" id="{E4053ED9-42B4-4FCC-9A30-4B98E81B12FD}"/>
              </a:ext>
            </a:extLst>
          </p:cNvPr>
          <p:cNvSpPr/>
          <p:nvPr/>
        </p:nvSpPr>
        <p:spPr>
          <a:xfrm>
            <a:off x="6317964" y="4351355"/>
            <a:ext cx="5561138" cy="369332"/>
          </a:xfrm>
          <a:prstGeom prst="rect">
            <a:avLst/>
          </a:prstGeom>
        </p:spPr>
        <p:txBody>
          <a:bodyPr wrap="none">
            <a:spAutoFit/>
          </a:bodyPr>
          <a:lstStyle/>
          <a:p>
            <a:r>
              <a:rPr lang="ru-RU" b="0" i="0" dirty="0">
                <a:solidFill>
                  <a:srgbClr val="1F1F1F"/>
                </a:solidFill>
                <a:effectLst/>
                <a:latin typeface="Courier New" panose="02070309020205020404" pitchFamily="49" charset="0"/>
              </a:rPr>
              <a:t>Удалено выбросов: 0 Осталось точек: 140</a:t>
            </a:r>
            <a:endParaRPr lang="ru-RU" dirty="0"/>
          </a:p>
        </p:txBody>
      </p:sp>
      <p:sp>
        <p:nvSpPr>
          <p:cNvPr id="7" name="Прямоугольник 6">
            <a:extLst>
              <a:ext uri="{FF2B5EF4-FFF2-40B4-BE49-F238E27FC236}">
                <a16:creationId xmlns:a16="http://schemas.microsoft.com/office/drawing/2014/main" id="{687049B8-ABDF-4A9C-8403-33405E807002}"/>
              </a:ext>
            </a:extLst>
          </p:cNvPr>
          <p:cNvSpPr/>
          <p:nvPr/>
        </p:nvSpPr>
        <p:spPr>
          <a:xfrm>
            <a:off x="437490" y="4837393"/>
            <a:ext cx="11511854" cy="584775"/>
          </a:xfrm>
          <a:prstGeom prst="rect">
            <a:avLst/>
          </a:prstGeom>
        </p:spPr>
        <p:txBody>
          <a:bodyPr wrap="square">
            <a:spAutoFit/>
          </a:bodyPr>
          <a:lstStyle/>
          <a:p>
            <a:r>
              <a:rPr lang="ru-RU" sz="1600" dirty="0">
                <a:solidFill>
                  <a:srgbClr val="1F1F1F"/>
                </a:solidFill>
                <a:latin typeface="Times New Roman" panose="02020603050405020304" pitchFamily="18" charset="0"/>
                <a:cs typeface="Times New Roman" panose="02020603050405020304" pitchFamily="18" charset="0"/>
              </a:rPr>
              <a:t>Как видно, во втором случае выбросов было значительно меньше. А в первом были убраны многие студенты с количеством баллов &lt;30</a:t>
            </a:r>
            <a:endParaRPr lang="ru-RU" sz="1600" dirty="0">
              <a:latin typeface="Times New Roman" panose="02020603050405020304" pitchFamily="18" charset="0"/>
              <a:cs typeface="Times New Roman" panose="02020603050405020304" pitchFamily="18" charset="0"/>
            </a:endParaRPr>
          </a:p>
        </p:txBody>
      </p:sp>
      <p:sp>
        <p:nvSpPr>
          <p:cNvPr id="8" name="Прямоугольник 7">
            <a:extLst>
              <a:ext uri="{FF2B5EF4-FFF2-40B4-BE49-F238E27FC236}">
                <a16:creationId xmlns:a16="http://schemas.microsoft.com/office/drawing/2014/main" id="{DA4E6921-00F0-4289-B590-F44ADFC0245F}"/>
              </a:ext>
            </a:extLst>
          </p:cNvPr>
          <p:cNvSpPr/>
          <p:nvPr/>
        </p:nvSpPr>
        <p:spPr>
          <a:xfrm>
            <a:off x="437489" y="5534773"/>
            <a:ext cx="6096000" cy="923330"/>
          </a:xfrm>
          <a:prstGeom prst="rect">
            <a:avLst/>
          </a:prstGeom>
        </p:spPr>
        <p:txBody>
          <a:bodyPr>
            <a:spAutoFit/>
          </a:bodyPr>
          <a:lstStyle/>
          <a:p>
            <a:r>
              <a:rPr lang="ru-RU" b="0" i="0" dirty="0">
                <a:solidFill>
                  <a:srgbClr val="1F1F1F"/>
                </a:solidFill>
                <a:effectLst/>
                <a:latin typeface="Courier New" panose="02070309020205020404" pitchFamily="49" charset="0"/>
              </a:rPr>
              <a:t>Выборочная дисперсия сначала 0.02914 Выборочная дисперсия после фильтрации 0.01276</a:t>
            </a:r>
            <a:endParaRPr lang="ru-RU" dirty="0"/>
          </a:p>
        </p:txBody>
      </p:sp>
      <p:sp>
        <p:nvSpPr>
          <p:cNvPr id="9" name="Прямоугольник 8">
            <a:extLst>
              <a:ext uri="{FF2B5EF4-FFF2-40B4-BE49-F238E27FC236}">
                <a16:creationId xmlns:a16="http://schemas.microsoft.com/office/drawing/2014/main" id="{9B068982-8B4C-4307-BD31-AF1D33D2D510}"/>
              </a:ext>
            </a:extLst>
          </p:cNvPr>
          <p:cNvSpPr/>
          <p:nvPr/>
        </p:nvSpPr>
        <p:spPr>
          <a:xfrm>
            <a:off x="6096000" y="5422168"/>
            <a:ext cx="6096000" cy="369332"/>
          </a:xfrm>
          <a:prstGeom prst="rect">
            <a:avLst/>
          </a:prstGeom>
        </p:spPr>
        <p:txBody>
          <a:bodyPr>
            <a:spAutoFit/>
          </a:bodyPr>
          <a:lstStyle/>
          <a:p>
            <a:r>
              <a:rPr lang="ru-RU" dirty="0">
                <a:solidFill>
                  <a:srgbClr val="1F1F1F"/>
                </a:solidFill>
                <a:latin typeface="Times New Roman" panose="02020603050405020304" pitchFamily="18" charset="0"/>
                <a:cs typeface="Times New Roman" panose="02020603050405020304" pitchFamily="18" charset="0"/>
              </a:rPr>
              <a:t>После фильтрации дисперсия, как ожидалось, уменьшилась</a:t>
            </a:r>
            <a:endParaRPr lang="ru-RU"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0F05B00-20D8-4068-A96E-72854650327D}"/>
              </a:ext>
            </a:extLst>
          </p:cNvPr>
          <p:cNvSpPr txBox="1"/>
          <p:nvPr/>
        </p:nvSpPr>
        <p:spPr>
          <a:xfrm>
            <a:off x="2606351" y="1066500"/>
            <a:ext cx="1361270" cy="369332"/>
          </a:xfrm>
          <a:prstGeom prst="rect">
            <a:avLst/>
          </a:prstGeom>
          <a:noFill/>
        </p:spPr>
        <p:txBody>
          <a:bodyPr wrap="none" rtlCol="0">
            <a:spAutoFit/>
          </a:bodyPr>
          <a:lstStyle/>
          <a:p>
            <a:r>
              <a:rPr lang="ru-RU" dirty="0"/>
              <a:t>ОМА план 1</a:t>
            </a:r>
          </a:p>
        </p:txBody>
      </p:sp>
      <p:sp>
        <p:nvSpPr>
          <p:cNvPr id="11" name="TextBox 10">
            <a:extLst>
              <a:ext uri="{FF2B5EF4-FFF2-40B4-BE49-F238E27FC236}">
                <a16:creationId xmlns:a16="http://schemas.microsoft.com/office/drawing/2014/main" id="{D02F7211-3115-4D01-A437-37895338566E}"/>
              </a:ext>
            </a:extLst>
          </p:cNvPr>
          <p:cNvSpPr txBox="1"/>
          <p:nvPr/>
        </p:nvSpPr>
        <p:spPr>
          <a:xfrm>
            <a:off x="8463365" y="1075259"/>
            <a:ext cx="1361270" cy="369332"/>
          </a:xfrm>
          <a:prstGeom prst="rect">
            <a:avLst/>
          </a:prstGeom>
          <a:noFill/>
        </p:spPr>
        <p:txBody>
          <a:bodyPr wrap="none" rtlCol="0">
            <a:spAutoFit/>
          </a:bodyPr>
          <a:lstStyle/>
          <a:p>
            <a:r>
              <a:rPr lang="ru-RU" dirty="0"/>
              <a:t>ОМА план 2</a:t>
            </a:r>
          </a:p>
        </p:txBody>
      </p:sp>
    </p:spTree>
    <p:extLst>
      <p:ext uri="{BB962C8B-B14F-4D97-AF65-F5344CB8AC3E}">
        <p14:creationId xmlns:p14="http://schemas.microsoft.com/office/powerpoint/2010/main" val="4164997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E38EB4D8-FEAE-4BD6-8941-A6283BE219F2}"/>
              </a:ext>
            </a:extLst>
          </p:cNvPr>
          <p:cNvSpPr/>
          <p:nvPr/>
        </p:nvSpPr>
        <p:spPr>
          <a:xfrm>
            <a:off x="3541713" y="3120306"/>
            <a:ext cx="6014806" cy="923330"/>
          </a:xfrm>
          <a:prstGeom prst="rect">
            <a:avLst/>
          </a:prstGeom>
        </p:spPr>
        <p:txBody>
          <a:bodyPr wrap="square">
            <a:spAutoFit/>
          </a:bodyPr>
          <a:lstStyle/>
          <a:p>
            <a:r>
              <a:rPr lang="ru-RU" b="0" i="0" dirty="0">
                <a:solidFill>
                  <a:srgbClr val="1F1F1F"/>
                </a:solidFill>
                <a:effectLst/>
                <a:latin typeface="Courier New" panose="02070309020205020404" pitchFamily="49" charset="0"/>
              </a:rPr>
              <a:t>Математическое ожидание OMA_res_1: 0.5481 Математическое ожидание OMA_res_2: 0.4954 p-значение: 0.0064</a:t>
            </a:r>
            <a:endParaRPr lang="ru-RU" dirty="0"/>
          </a:p>
        </p:txBody>
      </p:sp>
      <p:sp>
        <p:nvSpPr>
          <p:cNvPr id="7" name="Прямоугольник 6">
            <a:extLst>
              <a:ext uri="{FF2B5EF4-FFF2-40B4-BE49-F238E27FC236}">
                <a16:creationId xmlns:a16="http://schemas.microsoft.com/office/drawing/2014/main" id="{CD4DE07F-FA01-4EED-A467-497F987115AA}"/>
              </a:ext>
            </a:extLst>
          </p:cNvPr>
          <p:cNvSpPr/>
          <p:nvPr/>
        </p:nvSpPr>
        <p:spPr>
          <a:xfrm>
            <a:off x="3541713" y="4131728"/>
            <a:ext cx="6126162" cy="830997"/>
          </a:xfrm>
          <a:prstGeom prst="rect">
            <a:avLst/>
          </a:prstGeom>
        </p:spPr>
        <p:txBody>
          <a:bodyPr wrap="square">
            <a:spAutoFit/>
          </a:bodyPr>
          <a:lstStyle/>
          <a:p>
            <a:r>
              <a:rPr lang="ru-RU" sz="1600" b="0" i="0" dirty="0">
                <a:solidFill>
                  <a:srgbClr val="1F1F1F"/>
                </a:solidFill>
                <a:effectLst/>
                <a:latin typeface="Times New Roman" panose="02020603050405020304" pitchFamily="18" charset="0"/>
                <a:cs typeface="Times New Roman" panose="02020603050405020304" pitchFamily="18" charset="0"/>
              </a:rPr>
              <a:t>Видно, что значение p-</a:t>
            </a:r>
            <a:r>
              <a:rPr lang="ru-RU" sz="1600" b="0" i="0" dirty="0" err="1">
                <a:solidFill>
                  <a:srgbClr val="1F1F1F"/>
                </a:solidFill>
                <a:effectLst/>
                <a:latin typeface="Times New Roman" panose="02020603050405020304" pitchFamily="18" charset="0"/>
                <a:cs typeface="Times New Roman" panose="02020603050405020304" pitchFamily="18" charset="0"/>
              </a:rPr>
              <a:t>value</a:t>
            </a:r>
            <a:r>
              <a:rPr lang="ru-RU" sz="1600" b="0" i="0" dirty="0">
                <a:solidFill>
                  <a:srgbClr val="1F1F1F"/>
                </a:solidFill>
                <a:effectLst/>
                <a:latin typeface="Times New Roman" panose="02020603050405020304" pitchFamily="18" charset="0"/>
                <a:cs typeface="Times New Roman" panose="02020603050405020304" pitchFamily="18" charset="0"/>
              </a:rPr>
              <a:t> уменьшилось, в случае фильтрованных данных принимаем альтернативную гипотезу: математическое ожидание больше у первой группы</a:t>
            </a:r>
            <a:endParaRPr lang="ru-RU" sz="1600" dirty="0">
              <a:latin typeface="Times New Roman" panose="02020603050405020304" pitchFamily="18" charset="0"/>
              <a:cs typeface="Times New Roman" panose="02020603050405020304" pitchFamily="18" charset="0"/>
            </a:endParaRPr>
          </a:p>
        </p:txBody>
      </p:sp>
      <p:sp>
        <p:nvSpPr>
          <p:cNvPr id="8" name="Прямоугольник 7">
            <a:extLst>
              <a:ext uri="{FF2B5EF4-FFF2-40B4-BE49-F238E27FC236}">
                <a16:creationId xmlns:a16="http://schemas.microsoft.com/office/drawing/2014/main" id="{0F7EBEFD-406F-4915-88C1-47DAC42FB546}"/>
              </a:ext>
            </a:extLst>
          </p:cNvPr>
          <p:cNvSpPr/>
          <p:nvPr/>
        </p:nvSpPr>
        <p:spPr>
          <a:xfrm>
            <a:off x="3541713" y="1849201"/>
            <a:ext cx="4862864" cy="646331"/>
          </a:xfrm>
          <a:prstGeom prst="rect">
            <a:avLst/>
          </a:prstGeom>
        </p:spPr>
        <p:txBody>
          <a:bodyPr wrap="square">
            <a:spAutoFit/>
          </a:bodyPr>
          <a:lstStyle/>
          <a:p>
            <a:r>
              <a:rPr lang="ru-RU" b="0" i="0" dirty="0">
                <a:solidFill>
                  <a:srgbClr val="1F1F1F"/>
                </a:solidFill>
                <a:effectLst/>
                <a:latin typeface="Courier New" panose="02070309020205020404" pitchFamily="49" charset="0"/>
              </a:rPr>
              <a:t>Медиана для плана 1: 0.52095 Медиана для плана 2: 0.515500</a:t>
            </a:r>
            <a:endParaRPr lang="ru-RU" dirty="0"/>
          </a:p>
        </p:txBody>
      </p:sp>
      <p:sp>
        <p:nvSpPr>
          <p:cNvPr id="9" name="Прямоугольник 8">
            <a:extLst>
              <a:ext uri="{FF2B5EF4-FFF2-40B4-BE49-F238E27FC236}">
                <a16:creationId xmlns:a16="http://schemas.microsoft.com/office/drawing/2014/main" id="{19CFBA8E-B2A2-49CE-88F4-76658BC1EDF9}"/>
              </a:ext>
            </a:extLst>
          </p:cNvPr>
          <p:cNvSpPr/>
          <p:nvPr/>
        </p:nvSpPr>
        <p:spPr>
          <a:xfrm>
            <a:off x="3541713" y="2495532"/>
            <a:ext cx="4983162" cy="338554"/>
          </a:xfrm>
          <a:prstGeom prst="rect">
            <a:avLst/>
          </a:prstGeom>
        </p:spPr>
        <p:txBody>
          <a:bodyPr wrap="square">
            <a:spAutoFit/>
          </a:bodyPr>
          <a:lstStyle/>
          <a:p>
            <a:r>
              <a:rPr lang="ru-RU" sz="1600" b="0" i="0" dirty="0">
                <a:solidFill>
                  <a:srgbClr val="1F1F1F"/>
                </a:solidFill>
                <a:effectLst/>
                <a:latin typeface="Times New Roman" panose="02020603050405020304" pitchFamily="18" charset="0"/>
                <a:cs typeface="Times New Roman" panose="02020603050405020304" pitchFamily="18" charset="0"/>
              </a:rPr>
              <a:t>Медианы остались также примерно на том же уровне</a:t>
            </a:r>
            <a:endParaRPr lang="ru-RU" sz="1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C7B1DEB-4455-438A-9C83-96792DA0617E}"/>
              </a:ext>
            </a:extLst>
          </p:cNvPr>
          <p:cNvSpPr txBox="1"/>
          <p:nvPr/>
        </p:nvSpPr>
        <p:spPr>
          <a:xfrm>
            <a:off x="3648075" y="551699"/>
            <a:ext cx="4106252" cy="461665"/>
          </a:xfrm>
          <a:prstGeom prst="rect">
            <a:avLst/>
          </a:prstGeom>
          <a:noFill/>
        </p:spPr>
        <p:txBody>
          <a:bodyPr wrap="none" rtlCol="0">
            <a:spAutoFit/>
          </a:bodyPr>
          <a:lstStyle/>
          <a:p>
            <a:r>
              <a:rPr lang="ru-RU" sz="2400" dirty="0"/>
              <a:t>Результаты после фильтрации</a:t>
            </a:r>
          </a:p>
        </p:txBody>
      </p:sp>
    </p:spTree>
    <p:extLst>
      <p:ext uri="{BB962C8B-B14F-4D97-AF65-F5344CB8AC3E}">
        <p14:creationId xmlns:p14="http://schemas.microsoft.com/office/powerpoint/2010/main" val="3946038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E75003E-363F-42EE-83B6-C7E214566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906349"/>
            <a:ext cx="6771673" cy="4967498"/>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a:extLst>
              <a:ext uri="{FF2B5EF4-FFF2-40B4-BE49-F238E27FC236}">
                <a16:creationId xmlns:a16="http://schemas.microsoft.com/office/drawing/2014/main" id="{FDAE1B25-938B-40FF-B5A4-1171CD87DE58}"/>
              </a:ext>
            </a:extLst>
          </p:cNvPr>
          <p:cNvSpPr/>
          <p:nvPr/>
        </p:nvSpPr>
        <p:spPr>
          <a:xfrm>
            <a:off x="318486" y="1253253"/>
            <a:ext cx="3796683" cy="584775"/>
          </a:xfrm>
          <a:prstGeom prst="rect">
            <a:avLst/>
          </a:prstGeom>
        </p:spPr>
        <p:txBody>
          <a:bodyPr wrap="square">
            <a:spAutoFit/>
          </a:bodyPr>
          <a:lstStyle/>
          <a:p>
            <a:r>
              <a:rPr lang="ru-RU" sz="1600" b="0" i="0" dirty="0">
                <a:solidFill>
                  <a:srgbClr val="1F1F1F"/>
                </a:solidFill>
                <a:effectLst/>
                <a:latin typeface="Courier New" panose="02070309020205020404" pitchFamily="49" charset="0"/>
              </a:rPr>
              <a:t>Медиана для плана 1: 0.573 Медиана для плана 2: 0.57</a:t>
            </a:r>
            <a:endParaRPr lang="ru-RU" sz="1600" dirty="0"/>
          </a:p>
        </p:txBody>
      </p:sp>
      <p:sp>
        <p:nvSpPr>
          <p:cNvPr id="3" name="Прямоугольник 2">
            <a:extLst>
              <a:ext uri="{FF2B5EF4-FFF2-40B4-BE49-F238E27FC236}">
                <a16:creationId xmlns:a16="http://schemas.microsoft.com/office/drawing/2014/main" id="{3F725066-B5AF-48A5-9AB4-66B91A0C91DD}"/>
              </a:ext>
            </a:extLst>
          </p:cNvPr>
          <p:cNvSpPr/>
          <p:nvPr/>
        </p:nvSpPr>
        <p:spPr>
          <a:xfrm>
            <a:off x="318487" y="1862598"/>
            <a:ext cx="5190478" cy="830997"/>
          </a:xfrm>
          <a:prstGeom prst="rect">
            <a:avLst/>
          </a:prstGeom>
        </p:spPr>
        <p:txBody>
          <a:bodyPr wrap="square">
            <a:spAutoFit/>
          </a:bodyPr>
          <a:lstStyle/>
          <a:p>
            <a:r>
              <a:rPr lang="ru-RU" sz="1600" b="0" i="0" dirty="0">
                <a:solidFill>
                  <a:srgbClr val="1F1F1F"/>
                </a:solidFill>
                <a:effectLst/>
                <a:latin typeface="Courier New" panose="02070309020205020404" pitchFamily="49" charset="0"/>
              </a:rPr>
              <a:t>Математическое ожидание AG_res_1: 0.5486 Математическое ожидание AG_res_2: 0.6146 p-значение: 0.0094</a:t>
            </a:r>
            <a:endParaRPr lang="ru-RU" sz="1600" dirty="0"/>
          </a:p>
        </p:txBody>
      </p:sp>
      <p:sp>
        <p:nvSpPr>
          <p:cNvPr id="4" name="Прямоугольник 3">
            <a:extLst>
              <a:ext uri="{FF2B5EF4-FFF2-40B4-BE49-F238E27FC236}">
                <a16:creationId xmlns:a16="http://schemas.microsoft.com/office/drawing/2014/main" id="{A60FD5B1-6579-4AD2-AC2B-48D1CCB5589B}"/>
              </a:ext>
            </a:extLst>
          </p:cNvPr>
          <p:cNvSpPr/>
          <p:nvPr/>
        </p:nvSpPr>
        <p:spPr>
          <a:xfrm>
            <a:off x="318486" y="2693595"/>
            <a:ext cx="4524652" cy="584775"/>
          </a:xfrm>
          <a:prstGeom prst="rect">
            <a:avLst/>
          </a:prstGeom>
        </p:spPr>
        <p:txBody>
          <a:bodyPr wrap="square">
            <a:spAutoFit/>
          </a:bodyPr>
          <a:lstStyle/>
          <a:p>
            <a:r>
              <a:rPr lang="ru-RU" sz="1600" b="0" i="0" dirty="0">
                <a:solidFill>
                  <a:srgbClr val="1F1F1F"/>
                </a:solidFill>
                <a:effectLst/>
                <a:latin typeface="Times New Roman" panose="02020603050405020304" pitchFamily="18" charset="0"/>
                <a:cs typeface="Times New Roman" panose="02020603050405020304" pitchFamily="18" charset="0"/>
              </a:rPr>
              <a:t>Можно считать, что во втором случае средняя оценка больше, чем в первом</a:t>
            </a:r>
            <a:endParaRPr lang="ru-RU" sz="1600" dirty="0">
              <a:latin typeface="Times New Roman" panose="02020603050405020304" pitchFamily="18" charset="0"/>
              <a:cs typeface="Times New Roman" panose="02020603050405020304" pitchFamily="18" charset="0"/>
            </a:endParaRPr>
          </a:p>
        </p:txBody>
      </p:sp>
      <p:sp>
        <p:nvSpPr>
          <p:cNvPr id="5" name="Прямоугольник 4">
            <a:extLst>
              <a:ext uri="{FF2B5EF4-FFF2-40B4-BE49-F238E27FC236}">
                <a16:creationId xmlns:a16="http://schemas.microsoft.com/office/drawing/2014/main" id="{E952DB42-5CF7-4360-BAC6-F6ED00113EBB}"/>
              </a:ext>
            </a:extLst>
          </p:cNvPr>
          <p:cNvSpPr/>
          <p:nvPr/>
        </p:nvSpPr>
        <p:spPr>
          <a:xfrm>
            <a:off x="318486" y="3709901"/>
            <a:ext cx="4986291" cy="584775"/>
          </a:xfrm>
          <a:prstGeom prst="rect">
            <a:avLst/>
          </a:prstGeom>
        </p:spPr>
        <p:txBody>
          <a:bodyPr wrap="square">
            <a:spAutoFit/>
          </a:bodyPr>
          <a:lstStyle/>
          <a:p>
            <a:r>
              <a:rPr lang="ru-RU" sz="1600" b="0" i="0" dirty="0">
                <a:solidFill>
                  <a:srgbClr val="1F1F1F"/>
                </a:solidFill>
                <a:effectLst/>
                <a:latin typeface="Courier New" panose="02070309020205020404" pitchFamily="49" charset="0"/>
              </a:rPr>
              <a:t>Количество не сдавших в 22-м году 54 Количество не сдавших в 23-м году 18</a:t>
            </a:r>
            <a:endParaRPr lang="ru-RU" sz="1600" dirty="0"/>
          </a:p>
        </p:txBody>
      </p:sp>
      <p:sp>
        <p:nvSpPr>
          <p:cNvPr id="6" name="Прямоугольник 5">
            <a:extLst>
              <a:ext uri="{FF2B5EF4-FFF2-40B4-BE49-F238E27FC236}">
                <a16:creationId xmlns:a16="http://schemas.microsoft.com/office/drawing/2014/main" id="{1E311233-E90B-41B2-A285-ED48C3DCDC99}"/>
              </a:ext>
            </a:extLst>
          </p:cNvPr>
          <p:cNvSpPr/>
          <p:nvPr/>
        </p:nvSpPr>
        <p:spPr>
          <a:xfrm>
            <a:off x="318486" y="4365359"/>
            <a:ext cx="4751622" cy="338554"/>
          </a:xfrm>
          <a:prstGeom prst="rect">
            <a:avLst/>
          </a:prstGeom>
        </p:spPr>
        <p:txBody>
          <a:bodyPr wrap="none">
            <a:spAutoFit/>
          </a:bodyPr>
          <a:lstStyle/>
          <a:p>
            <a:r>
              <a:rPr lang="en-US" sz="1600" b="0" i="0" dirty="0">
                <a:solidFill>
                  <a:srgbClr val="1F1F1F"/>
                </a:solidFill>
                <a:effectLst/>
                <a:latin typeface="Courier New" panose="02070309020205020404" pitchFamily="49" charset="0"/>
              </a:rPr>
              <a:t>Z-</a:t>
            </a:r>
            <a:r>
              <a:rPr lang="ru-RU" sz="1600" b="0" i="0" dirty="0">
                <a:solidFill>
                  <a:srgbClr val="1F1F1F"/>
                </a:solidFill>
                <a:effectLst/>
                <a:latin typeface="Courier New" panose="02070309020205020404" pitchFamily="49" charset="0"/>
              </a:rPr>
              <a:t>статистика: 4.7775, </a:t>
            </a:r>
            <a:r>
              <a:rPr lang="en-US" sz="1600" b="0" i="0" dirty="0">
                <a:solidFill>
                  <a:srgbClr val="1F1F1F"/>
                </a:solidFill>
                <a:effectLst/>
                <a:latin typeface="Courier New" panose="02070309020205020404" pitchFamily="49" charset="0"/>
              </a:rPr>
              <a:t>p-value: 0.0000</a:t>
            </a:r>
            <a:endParaRPr lang="ru-RU" sz="1600" dirty="0"/>
          </a:p>
        </p:txBody>
      </p:sp>
      <p:sp>
        <p:nvSpPr>
          <p:cNvPr id="7" name="Прямоугольник 6">
            <a:extLst>
              <a:ext uri="{FF2B5EF4-FFF2-40B4-BE49-F238E27FC236}">
                <a16:creationId xmlns:a16="http://schemas.microsoft.com/office/drawing/2014/main" id="{EF21BBE2-B599-4CE3-ADB3-593C83239E33}"/>
              </a:ext>
            </a:extLst>
          </p:cNvPr>
          <p:cNvSpPr/>
          <p:nvPr/>
        </p:nvSpPr>
        <p:spPr>
          <a:xfrm>
            <a:off x="318487" y="4726207"/>
            <a:ext cx="4863113" cy="830997"/>
          </a:xfrm>
          <a:prstGeom prst="rect">
            <a:avLst/>
          </a:prstGeom>
        </p:spPr>
        <p:txBody>
          <a:bodyPr wrap="square">
            <a:spAutoFit/>
          </a:bodyPr>
          <a:lstStyle/>
          <a:p>
            <a:r>
              <a:rPr lang="ru-RU" sz="1600" b="0" i="0" dirty="0">
                <a:solidFill>
                  <a:srgbClr val="1F1F1F"/>
                </a:solidFill>
                <a:effectLst/>
                <a:latin typeface="Times New Roman" panose="02020603050405020304" pitchFamily="18" charset="0"/>
                <a:cs typeface="Times New Roman" panose="02020603050405020304" pitchFamily="18" charset="0"/>
              </a:rPr>
              <a:t>В случае с </a:t>
            </a:r>
            <a:r>
              <a:rPr lang="ru-RU" sz="1600" b="0" i="0" dirty="0" err="1">
                <a:solidFill>
                  <a:srgbClr val="1F1F1F"/>
                </a:solidFill>
                <a:effectLst/>
                <a:latin typeface="Times New Roman" panose="02020603050405020304" pitchFamily="18" charset="0"/>
                <a:cs typeface="Times New Roman" panose="02020603050405020304" pitchFamily="18" charset="0"/>
              </a:rPr>
              <a:t>АиГ</a:t>
            </a:r>
            <a:r>
              <a:rPr lang="ru-RU" sz="1600" b="0" i="0" dirty="0">
                <a:solidFill>
                  <a:srgbClr val="1F1F1F"/>
                </a:solidFill>
                <a:effectLst/>
                <a:latin typeface="Times New Roman" panose="02020603050405020304" pitchFamily="18" charset="0"/>
                <a:cs typeface="Times New Roman" panose="02020603050405020304" pitchFamily="18" charset="0"/>
              </a:rPr>
              <a:t> ситуация обратная. Принимаем гипотезу, что в 23-м году "двойки" в итоге получали реже</a:t>
            </a:r>
            <a:endParaRPr lang="ru-RU" sz="1600" dirty="0">
              <a:latin typeface="Times New Roman" panose="02020603050405020304" pitchFamily="18" charset="0"/>
              <a:cs typeface="Times New Roman" panose="02020603050405020304" pitchFamily="18" charset="0"/>
            </a:endParaRPr>
          </a:p>
        </p:txBody>
      </p:sp>
      <p:sp>
        <p:nvSpPr>
          <p:cNvPr id="9" name="Прямоугольник 8">
            <a:extLst>
              <a:ext uri="{FF2B5EF4-FFF2-40B4-BE49-F238E27FC236}">
                <a16:creationId xmlns:a16="http://schemas.microsoft.com/office/drawing/2014/main" id="{57F7E667-83D7-447E-A6B8-CB018C0D22E2}"/>
              </a:ext>
            </a:extLst>
          </p:cNvPr>
          <p:cNvSpPr/>
          <p:nvPr/>
        </p:nvSpPr>
        <p:spPr>
          <a:xfrm>
            <a:off x="498630" y="260018"/>
            <a:ext cx="6096000" cy="646331"/>
          </a:xfrm>
          <a:prstGeom prst="rect">
            <a:avLst/>
          </a:prstGeom>
        </p:spPr>
        <p:txBody>
          <a:bodyPr>
            <a:spAutoFit/>
          </a:bodyPr>
          <a:lstStyle/>
          <a:p>
            <a:r>
              <a:rPr lang="ru-RU" b="1" dirty="0">
                <a:solidFill>
                  <a:srgbClr val="1F1F1F"/>
                </a:solidFill>
                <a:latin typeface="Roboto"/>
              </a:rPr>
              <a:t>Проведем аналогичные тесты для курса алгебры и геометрии первого семестра</a:t>
            </a:r>
            <a:endParaRPr lang="ru-RU" b="1" dirty="0"/>
          </a:p>
        </p:txBody>
      </p:sp>
    </p:spTree>
    <p:extLst>
      <p:ext uri="{BB962C8B-B14F-4D97-AF65-F5344CB8AC3E}">
        <p14:creationId xmlns:p14="http://schemas.microsoft.com/office/powerpoint/2010/main" val="3284640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6E0E2221-178F-44CC-A48A-F10DFB987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75901"/>
            <a:ext cx="5591174" cy="2776762"/>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a:extLst>
              <a:ext uri="{FF2B5EF4-FFF2-40B4-BE49-F238E27FC236}">
                <a16:creationId xmlns:a16="http://schemas.microsoft.com/office/drawing/2014/main" id="{01491158-87D3-47F5-BF55-C276CCB72784}"/>
              </a:ext>
            </a:extLst>
          </p:cNvPr>
          <p:cNvSpPr/>
          <p:nvPr/>
        </p:nvSpPr>
        <p:spPr>
          <a:xfrm>
            <a:off x="5806087" y="3490853"/>
            <a:ext cx="6255798" cy="646331"/>
          </a:xfrm>
          <a:prstGeom prst="rect">
            <a:avLst/>
          </a:prstGeom>
        </p:spPr>
        <p:txBody>
          <a:bodyPr wrap="square">
            <a:spAutoFit/>
          </a:bodyPr>
          <a:lstStyle/>
          <a:p>
            <a:r>
              <a:rPr lang="ru-RU" b="0" i="0" dirty="0">
                <a:solidFill>
                  <a:srgbClr val="1F1F1F"/>
                </a:solidFill>
                <a:effectLst/>
                <a:latin typeface="Courier New" panose="02070309020205020404" pitchFamily="49" charset="0"/>
              </a:rPr>
              <a:t>Выборочная дисперсия сначала 0.04460 Выборочная дисперсия после фильтрации 0.0364</a:t>
            </a:r>
            <a:endParaRPr lang="ru-RU" dirty="0"/>
          </a:p>
        </p:txBody>
      </p:sp>
      <p:sp>
        <p:nvSpPr>
          <p:cNvPr id="3" name="Прямоугольник 2">
            <a:extLst>
              <a:ext uri="{FF2B5EF4-FFF2-40B4-BE49-F238E27FC236}">
                <a16:creationId xmlns:a16="http://schemas.microsoft.com/office/drawing/2014/main" id="{4919D588-F293-441A-BE52-8D04C278497B}"/>
              </a:ext>
            </a:extLst>
          </p:cNvPr>
          <p:cNvSpPr/>
          <p:nvPr/>
        </p:nvSpPr>
        <p:spPr>
          <a:xfrm>
            <a:off x="82857" y="4527300"/>
            <a:ext cx="5508317" cy="646331"/>
          </a:xfrm>
          <a:prstGeom prst="rect">
            <a:avLst/>
          </a:prstGeom>
        </p:spPr>
        <p:txBody>
          <a:bodyPr wrap="square">
            <a:spAutoFit/>
          </a:bodyPr>
          <a:lstStyle/>
          <a:p>
            <a:r>
              <a:rPr lang="ru-RU" b="0" i="0" dirty="0">
                <a:solidFill>
                  <a:srgbClr val="1F1F1F"/>
                </a:solidFill>
                <a:effectLst/>
                <a:latin typeface="Courier New" panose="02070309020205020404" pitchFamily="49" charset="0"/>
              </a:rPr>
              <a:t>Количество не сдавших в 22-м году 54 Количество не сдавших в 23-м году 13</a:t>
            </a:r>
            <a:endParaRPr lang="ru-RU" dirty="0"/>
          </a:p>
        </p:txBody>
      </p:sp>
      <p:sp>
        <p:nvSpPr>
          <p:cNvPr id="4" name="Прямоугольник 3">
            <a:extLst>
              <a:ext uri="{FF2B5EF4-FFF2-40B4-BE49-F238E27FC236}">
                <a16:creationId xmlns:a16="http://schemas.microsoft.com/office/drawing/2014/main" id="{63E0E944-4EA3-4DFC-9AA6-84BA8A44C844}"/>
              </a:ext>
            </a:extLst>
          </p:cNvPr>
          <p:cNvSpPr/>
          <p:nvPr/>
        </p:nvSpPr>
        <p:spPr>
          <a:xfrm>
            <a:off x="82857" y="5211821"/>
            <a:ext cx="5836854" cy="369332"/>
          </a:xfrm>
          <a:prstGeom prst="rect">
            <a:avLst/>
          </a:prstGeom>
        </p:spPr>
        <p:txBody>
          <a:bodyPr wrap="none">
            <a:spAutoFit/>
          </a:bodyPr>
          <a:lstStyle/>
          <a:p>
            <a:r>
              <a:rPr lang="en-US" b="0" i="0" dirty="0">
                <a:solidFill>
                  <a:srgbClr val="1F1F1F"/>
                </a:solidFill>
                <a:effectLst/>
                <a:latin typeface="Courier New" panose="02070309020205020404" pitchFamily="49" charset="0"/>
              </a:rPr>
              <a:t>Z-</a:t>
            </a:r>
            <a:r>
              <a:rPr lang="ru-RU" b="0" i="0" dirty="0">
                <a:solidFill>
                  <a:srgbClr val="1F1F1F"/>
                </a:solidFill>
                <a:effectLst/>
                <a:latin typeface="Courier New" panose="02070309020205020404" pitchFamily="49" charset="0"/>
              </a:rPr>
              <a:t>статистика: 5.4502, </a:t>
            </a:r>
            <a:r>
              <a:rPr lang="en-US" b="0" i="0" dirty="0">
                <a:solidFill>
                  <a:srgbClr val="1F1F1F"/>
                </a:solidFill>
                <a:effectLst/>
                <a:latin typeface="Courier New" panose="02070309020205020404" pitchFamily="49" charset="0"/>
              </a:rPr>
              <a:t>p-value: 0.00000003</a:t>
            </a:r>
            <a:endParaRPr lang="ru-RU" dirty="0"/>
          </a:p>
        </p:txBody>
      </p:sp>
      <p:sp>
        <p:nvSpPr>
          <p:cNvPr id="5" name="Прямоугольник 4">
            <a:extLst>
              <a:ext uri="{FF2B5EF4-FFF2-40B4-BE49-F238E27FC236}">
                <a16:creationId xmlns:a16="http://schemas.microsoft.com/office/drawing/2014/main" id="{E9FB8B2B-0641-4B66-9FEB-2F36FCF888CF}"/>
              </a:ext>
            </a:extLst>
          </p:cNvPr>
          <p:cNvSpPr/>
          <p:nvPr/>
        </p:nvSpPr>
        <p:spPr>
          <a:xfrm>
            <a:off x="61509" y="5701913"/>
            <a:ext cx="6096000" cy="338554"/>
          </a:xfrm>
          <a:prstGeom prst="rect">
            <a:avLst/>
          </a:prstGeom>
        </p:spPr>
        <p:txBody>
          <a:bodyPr>
            <a:spAutoFit/>
          </a:bodyPr>
          <a:lstStyle/>
          <a:p>
            <a:r>
              <a:rPr lang="ru-RU" sz="1600" b="0" i="0" dirty="0">
                <a:solidFill>
                  <a:srgbClr val="1F1F1F"/>
                </a:solidFill>
                <a:effectLst/>
                <a:latin typeface="Times New Roman" panose="02020603050405020304" pitchFamily="18" charset="0"/>
                <a:cs typeface="Times New Roman" panose="02020603050405020304" pitchFamily="18" charset="0"/>
              </a:rPr>
              <a:t>После удаления выбросов ситуация изменилась незначительно</a:t>
            </a:r>
            <a:endParaRPr lang="ru-RU" sz="1600" dirty="0">
              <a:latin typeface="Times New Roman" panose="02020603050405020304" pitchFamily="18" charset="0"/>
              <a:cs typeface="Times New Roman" panose="02020603050405020304" pitchFamily="18" charset="0"/>
            </a:endParaRPr>
          </a:p>
        </p:txBody>
      </p:sp>
      <p:sp>
        <p:nvSpPr>
          <p:cNvPr id="9" name="Прямоугольник 8">
            <a:extLst>
              <a:ext uri="{FF2B5EF4-FFF2-40B4-BE49-F238E27FC236}">
                <a16:creationId xmlns:a16="http://schemas.microsoft.com/office/drawing/2014/main" id="{F78E758E-1324-4A2E-A48C-6EE832391AD9}"/>
              </a:ext>
            </a:extLst>
          </p:cNvPr>
          <p:cNvSpPr/>
          <p:nvPr/>
        </p:nvSpPr>
        <p:spPr>
          <a:xfrm>
            <a:off x="130115" y="3543590"/>
            <a:ext cx="5474563" cy="923330"/>
          </a:xfrm>
          <a:prstGeom prst="rect">
            <a:avLst/>
          </a:prstGeom>
        </p:spPr>
        <p:txBody>
          <a:bodyPr wrap="square">
            <a:spAutoFit/>
          </a:bodyPr>
          <a:lstStyle/>
          <a:p>
            <a:r>
              <a:rPr lang="ru-RU" b="0" i="0" dirty="0">
                <a:solidFill>
                  <a:srgbClr val="1F1F1F"/>
                </a:solidFill>
                <a:effectLst/>
                <a:latin typeface="Courier New" panose="02070309020205020404" pitchFamily="49" charset="0"/>
              </a:rPr>
              <a:t>Математическое ожидание AиГ_1: 0.5486 Математическое ожидание АиГ_2: 0.5793 p-значение: 0.3086</a:t>
            </a:r>
            <a:endParaRPr lang="ru-RU" dirty="0"/>
          </a:p>
        </p:txBody>
      </p:sp>
      <p:pic>
        <p:nvPicPr>
          <p:cNvPr id="6" name="Рисунок 5">
            <a:extLst>
              <a:ext uri="{FF2B5EF4-FFF2-40B4-BE49-F238E27FC236}">
                <a16:creationId xmlns:a16="http://schemas.microsoft.com/office/drawing/2014/main" id="{FE6CC9E4-4323-4ACB-AB24-25639982FB5B}"/>
              </a:ext>
            </a:extLst>
          </p:cNvPr>
          <p:cNvPicPr>
            <a:picLocks noChangeAspect="1"/>
          </p:cNvPicPr>
          <p:nvPr/>
        </p:nvPicPr>
        <p:blipFill>
          <a:blip r:embed="rId3"/>
          <a:stretch>
            <a:fillRect/>
          </a:stretch>
        </p:blipFill>
        <p:spPr>
          <a:xfrm>
            <a:off x="6193668" y="704582"/>
            <a:ext cx="5480637" cy="2719400"/>
          </a:xfrm>
          <a:prstGeom prst="rect">
            <a:avLst/>
          </a:prstGeom>
        </p:spPr>
      </p:pic>
      <p:sp>
        <p:nvSpPr>
          <p:cNvPr id="13" name="Прямоугольник 12">
            <a:extLst>
              <a:ext uri="{FF2B5EF4-FFF2-40B4-BE49-F238E27FC236}">
                <a16:creationId xmlns:a16="http://schemas.microsoft.com/office/drawing/2014/main" id="{3EA1A857-877F-4173-A084-91A4CB586F60}"/>
              </a:ext>
            </a:extLst>
          </p:cNvPr>
          <p:cNvSpPr/>
          <p:nvPr/>
        </p:nvSpPr>
        <p:spPr>
          <a:xfrm>
            <a:off x="4263703" y="125674"/>
            <a:ext cx="3664593" cy="400110"/>
          </a:xfrm>
          <a:prstGeom prst="rect">
            <a:avLst/>
          </a:prstGeom>
        </p:spPr>
        <p:txBody>
          <a:bodyPr wrap="none">
            <a:spAutoFit/>
          </a:bodyPr>
          <a:lstStyle/>
          <a:p>
            <a:r>
              <a:rPr lang="ru-RU" sz="2000" b="0" i="0" dirty="0">
                <a:solidFill>
                  <a:srgbClr val="1F1F1F"/>
                </a:solidFill>
                <a:effectLst/>
                <a:latin typeface="Times New Roman" panose="02020603050405020304" pitchFamily="18" charset="0"/>
                <a:cs typeface="Times New Roman" panose="02020603050405020304" pitchFamily="18" charset="0"/>
              </a:rPr>
              <a:t>Применим фильтрацию данных</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926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37D9A1A0-10D1-4A86-A350-C797F0831BCB}"/>
              </a:ext>
            </a:extLst>
          </p:cNvPr>
          <p:cNvSpPr>
            <a:spLocks noChangeArrowheads="1"/>
          </p:cNvSpPr>
          <p:nvPr/>
        </p:nvSpPr>
        <p:spPr bwMode="auto">
          <a:xfrm rot="10800000" flipV="1">
            <a:off x="3433359" y="2314007"/>
            <a:ext cx="5836855" cy="24377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79350" rIns="9144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1" i="0" u="none" strike="noStrike" cap="none" normalizeH="0" baseline="0" dirty="0">
                <a:ln>
                  <a:noFill/>
                </a:ln>
                <a:solidFill>
                  <a:srgbClr val="1F1F1F"/>
                </a:solidFill>
                <a:effectLst/>
                <a:latin typeface="Roboto"/>
              </a:rPr>
              <a:t>Вывод:</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1F1F1F"/>
                </a:solidFill>
                <a:effectLst/>
                <a:latin typeface="Roboto"/>
              </a:rPr>
              <a:t>В ходе проведенного анализа было выяснено, что поступившие в 22-м году лучше сдавали ОМА, а поступившие в 23-м — </a:t>
            </a:r>
            <a:r>
              <a:rPr kumimoji="0" lang="ru-RU" altLang="ru-RU" sz="1600" b="0" i="0" u="none" strike="noStrike" cap="none" normalizeH="0" baseline="0" dirty="0" err="1">
                <a:ln>
                  <a:noFill/>
                </a:ln>
                <a:solidFill>
                  <a:srgbClr val="1F1F1F"/>
                </a:solidFill>
                <a:effectLst/>
                <a:latin typeface="Roboto"/>
              </a:rPr>
              <a:t>АиГ</a:t>
            </a:r>
            <a:r>
              <a:rPr kumimoji="0" lang="ru-RU" altLang="ru-RU" sz="1600" b="0" i="0" u="none" strike="noStrike" cap="none" normalizeH="0" baseline="0" dirty="0">
                <a:ln>
                  <a:noFill/>
                </a:ln>
                <a:solidFill>
                  <a:srgbClr val="1F1F1F"/>
                </a:solidFill>
                <a:effectLst/>
                <a:latin typeface="Roboto"/>
              </a:rPr>
              <a:t>. Такая ситуация является необычной. Как оказалось, это связано с тем, что по лектор по предмету </a:t>
            </a:r>
            <a:r>
              <a:rPr kumimoji="0" lang="ru-RU" altLang="ru-RU" sz="1600" b="0" i="0" u="none" strike="noStrike" cap="none" normalizeH="0" baseline="0" dirty="0" err="1">
                <a:ln>
                  <a:noFill/>
                </a:ln>
                <a:solidFill>
                  <a:srgbClr val="1F1F1F"/>
                </a:solidFill>
                <a:effectLst/>
                <a:latin typeface="Roboto"/>
              </a:rPr>
              <a:t>АиГ</a:t>
            </a:r>
            <a:r>
              <a:rPr kumimoji="0" lang="ru-RU" altLang="ru-RU" sz="1600" b="0" i="0" u="none" strike="noStrike" cap="none" normalizeH="0" baseline="0" dirty="0">
                <a:ln>
                  <a:noFill/>
                </a:ln>
                <a:solidFill>
                  <a:srgbClr val="1F1F1F"/>
                </a:solidFill>
                <a:effectLst/>
                <a:latin typeface="Roboto"/>
              </a:rPr>
              <a:t> был заменен на менее требовательного, так что в дальнейшем для учета начальных уровней в анализе </a:t>
            </a:r>
            <a:r>
              <a:rPr kumimoji="0" lang="ru-RU" altLang="ru-RU" sz="1600" b="1" i="0" u="none" strike="noStrike" cap="none" normalizeH="0" baseline="0" dirty="0">
                <a:ln>
                  <a:noFill/>
                </a:ln>
                <a:solidFill>
                  <a:srgbClr val="1F1F1F"/>
                </a:solidFill>
                <a:effectLst/>
                <a:latin typeface="Roboto"/>
              </a:rPr>
              <a:t>мы будем использовать только результаты по ОМА</a:t>
            </a:r>
            <a:endParaRPr kumimoji="0" lang="ru-RU" altLang="ru-RU" sz="16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032744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FCD0643-7E6F-4D11-A3FA-C83E37F99E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04" y="576066"/>
            <a:ext cx="12088392" cy="5705867"/>
          </a:xfrm>
          <a:prstGeom prst="rect">
            <a:avLst/>
          </a:prstGeom>
        </p:spPr>
      </p:pic>
    </p:spTree>
    <p:extLst>
      <p:ext uri="{BB962C8B-B14F-4D97-AF65-F5344CB8AC3E}">
        <p14:creationId xmlns:p14="http://schemas.microsoft.com/office/powerpoint/2010/main" val="2300215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0A7F0BA-9C7D-4F79-BE0C-6D2D473AD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821" y="589"/>
            <a:ext cx="9836457" cy="3428411"/>
          </a:xfrm>
          <a:prstGeom prst="rect">
            <a:avLst/>
          </a:prstGeom>
        </p:spPr>
      </p:pic>
      <p:pic>
        <p:nvPicPr>
          <p:cNvPr id="5" name="Рисунок 4">
            <a:extLst>
              <a:ext uri="{FF2B5EF4-FFF2-40B4-BE49-F238E27FC236}">
                <a16:creationId xmlns:a16="http://schemas.microsoft.com/office/drawing/2014/main" id="{1F6E4C7B-AA30-4DC3-9907-E7D10C5CDD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721" y="3429000"/>
            <a:ext cx="9756557" cy="3429000"/>
          </a:xfrm>
          <a:prstGeom prst="rect">
            <a:avLst/>
          </a:prstGeom>
        </p:spPr>
      </p:pic>
    </p:spTree>
    <p:extLst>
      <p:ext uri="{BB962C8B-B14F-4D97-AF65-F5344CB8AC3E}">
        <p14:creationId xmlns:p14="http://schemas.microsoft.com/office/powerpoint/2010/main" val="1390516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7A8760-6B29-49A6-9F38-9870D5F821C3}"/>
              </a:ext>
            </a:extLst>
          </p:cNvPr>
          <p:cNvSpPr txBox="1"/>
          <p:nvPr/>
        </p:nvSpPr>
        <p:spPr>
          <a:xfrm>
            <a:off x="3146319" y="300037"/>
            <a:ext cx="6163867" cy="584775"/>
          </a:xfrm>
          <a:prstGeom prst="rect">
            <a:avLst/>
          </a:prstGeom>
          <a:noFill/>
        </p:spPr>
        <p:txBody>
          <a:bodyPr wrap="none" rtlCol="0">
            <a:spAutoFit/>
          </a:bodyPr>
          <a:lstStyle/>
          <a:p>
            <a:r>
              <a:rPr lang="ru-RU" sz="3200" dirty="0">
                <a:latin typeface="+mj-lt"/>
              </a:rPr>
              <a:t>Анализ предметов ДМ, ДУ, </a:t>
            </a:r>
            <a:r>
              <a:rPr lang="ru-RU" sz="3200" dirty="0" err="1">
                <a:latin typeface="+mj-lt"/>
              </a:rPr>
              <a:t>ТВиМС</a:t>
            </a:r>
            <a:endParaRPr lang="ru-RU" sz="3200" dirty="0">
              <a:latin typeface="+mj-lt"/>
            </a:endParaRPr>
          </a:p>
        </p:txBody>
      </p:sp>
      <p:sp>
        <p:nvSpPr>
          <p:cNvPr id="3" name="TextBox 2">
            <a:extLst>
              <a:ext uri="{FF2B5EF4-FFF2-40B4-BE49-F238E27FC236}">
                <a16:creationId xmlns:a16="http://schemas.microsoft.com/office/drawing/2014/main" id="{3B0F8046-66E2-4C4B-8C36-5C4036B7CFA7}"/>
              </a:ext>
            </a:extLst>
          </p:cNvPr>
          <p:cNvSpPr txBox="1"/>
          <p:nvPr/>
        </p:nvSpPr>
        <p:spPr>
          <a:xfrm>
            <a:off x="3407540" y="1279595"/>
            <a:ext cx="5534025" cy="461665"/>
          </a:xfrm>
          <a:prstGeom prst="rect">
            <a:avLst/>
          </a:prstGeom>
          <a:noFill/>
        </p:spPr>
        <p:txBody>
          <a:bodyPr wrap="square" rtlCol="0">
            <a:spAutoFit/>
          </a:bodyPr>
          <a:lstStyle/>
          <a:p>
            <a:r>
              <a:rPr lang="ru-RU" sz="2400" dirty="0"/>
              <a:t>Анализ </a:t>
            </a:r>
            <a:r>
              <a:rPr lang="ru-RU" sz="2400" dirty="0">
                <a:latin typeface="Times New Roman" panose="02020603050405020304" pitchFamily="18" charset="0"/>
                <a:cs typeface="Times New Roman" panose="02020603050405020304" pitchFamily="18" charset="0"/>
              </a:rPr>
              <a:t>проведен</a:t>
            </a:r>
            <a:r>
              <a:rPr lang="ru-RU" sz="2400" dirty="0"/>
              <a:t> по следующему плану:</a:t>
            </a:r>
          </a:p>
        </p:txBody>
      </p:sp>
      <p:sp>
        <p:nvSpPr>
          <p:cNvPr id="5" name="TextBox 4">
            <a:extLst>
              <a:ext uri="{FF2B5EF4-FFF2-40B4-BE49-F238E27FC236}">
                <a16:creationId xmlns:a16="http://schemas.microsoft.com/office/drawing/2014/main" id="{94DD3202-4650-442D-9BD0-79554410BA22}"/>
              </a:ext>
            </a:extLst>
          </p:cNvPr>
          <p:cNvSpPr txBox="1"/>
          <p:nvPr/>
        </p:nvSpPr>
        <p:spPr>
          <a:xfrm>
            <a:off x="3047999" y="1741260"/>
            <a:ext cx="6096000" cy="4524315"/>
          </a:xfrm>
          <a:prstGeom prst="rect">
            <a:avLst/>
          </a:prstGeom>
          <a:noFill/>
        </p:spPr>
        <p:txBody>
          <a:bodyPr wrap="square">
            <a:spAutoFit/>
          </a:bodyPr>
          <a:lstStyle/>
          <a:p>
            <a:pPr marL="342900" indent="-342900" algn="just">
              <a:buAutoNum type="arabicParenR"/>
            </a:pPr>
            <a:r>
              <a:rPr lang="ru-RU" dirty="0">
                <a:latin typeface="Times New Roman" panose="02020603050405020304" pitchFamily="18" charset="0"/>
                <a:cs typeface="Times New Roman" panose="02020603050405020304" pitchFamily="18" charset="0"/>
              </a:rPr>
              <a:t>Удаляем всех  студентов, получивших менее 5 баллов (считаем их не приступившими к учебе)</a:t>
            </a:r>
          </a:p>
          <a:p>
            <a:pPr algn="just"/>
            <a:r>
              <a:rPr lang="ru-RU" dirty="0">
                <a:latin typeface="Times New Roman" panose="02020603050405020304" pitchFamily="18" charset="0"/>
                <a:cs typeface="Times New Roman" panose="02020603050405020304" pitchFamily="18" charset="0"/>
              </a:rPr>
              <a:t>2) Строим </a:t>
            </a:r>
            <a:r>
              <a:rPr lang="ru-RU" dirty="0" err="1">
                <a:latin typeface="Times New Roman" panose="02020603050405020304" pitchFamily="18" charset="0"/>
                <a:cs typeface="Times New Roman" panose="02020603050405020304" pitchFamily="18" charset="0"/>
              </a:rPr>
              <a:t>боксплоты</a:t>
            </a:r>
            <a:r>
              <a:rPr lang="ru-RU" dirty="0">
                <a:latin typeface="Times New Roman" panose="02020603050405020304" pitchFamily="18" charset="0"/>
                <a:cs typeface="Times New Roman" panose="02020603050405020304" pitchFamily="18" charset="0"/>
              </a:rPr>
              <a:t>, гистограммы</a:t>
            </a:r>
          </a:p>
          <a:p>
            <a:pPr algn="just"/>
            <a:r>
              <a:rPr lang="ru-RU" dirty="0">
                <a:latin typeface="Times New Roman" panose="02020603050405020304" pitchFamily="18" charset="0"/>
                <a:cs typeface="Times New Roman" panose="02020603050405020304" pitchFamily="18" charset="0"/>
              </a:rPr>
              <a:t>3) Находим основные характеристики: медианы, дисперсии, коэффициенты асимметрии, математические ожидания</a:t>
            </a:r>
          </a:p>
          <a:p>
            <a:pPr algn="just"/>
            <a:r>
              <a:rPr lang="ru-RU" dirty="0">
                <a:latin typeface="Times New Roman" panose="02020603050405020304" pitchFamily="18" charset="0"/>
                <a:cs typeface="Times New Roman" panose="02020603050405020304" pitchFamily="18" charset="0"/>
              </a:rPr>
              <a:t>4) С помощью </a:t>
            </a:r>
            <a:r>
              <a:rPr lang="ru-RU" dirty="0" err="1">
                <a:latin typeface="Times New Roman" panose="02020603050405020304" pitchFamily="18" charset="0"/>
                <a:cs typeface="Times New Roman" panose="02020603050405020304" pitchFamily="18" charset="0"/>
              </a:rPr>
              <a:t>бутстреп</a:t>
            </a:r>
            <a:r>
              <a:rPr lang="ru-RU" dirty="0">
                <a:latin typeface="Times New Roman" panose="02020603050405020304" pitchFamily="18" charset="0"/>
                <a:cs typeface="Times New Roman" panose="02020603050405020304" pitchFamily="18" charset="0"/>
              </a:rPr>
              <a:t> – теста проверяем гипотезу о равенстве математических ожиданий </a:t>
            </a:r>
          </a:p>
          <a:p>
            <a:pPr algn="just"/>
            <a:r>
              <a:rPr lang="ru-RU" dirty="0">
                <a:latin typeface="Times New Roman" panose="02020603050405020304" pitchFamily="18" charset="0"/>
                <a:cs typeface="Times New Roman" panose="02020603050405020304" pitchFamily="18" charset="0"/>
              </a:rPr>
              <a:t>4.2) С помощью теста </a:t>
            </a:r>
            <a:r>
              <a:rPr lang="ru-RU" dirty="0" err="1">
                <a:latin typeface="Times New Roman" panose="02020603050405020304" pitchFamily="18" charset="0"/>
                <a:cs typeface="Times New Roman" panose="02020603050405020304" pitchFamily="18" charset="0"/>
              </a:rPr>
              <a:t>Левена</a:t>
            </a:r>
            <a:r>
              <a:rPr lang="ru-RU" dirty="0">
                <a:latin typeface="Times New Roman" panose="02020603050405020304" pitchFamily="18" charset="0"/>
                <a:cs typeface="Times New Roman" panose="02020603050405020304" pitchFamily="18" charset="0"/>
              </a:rPr>
              <a:t>  проверяем гипотезу о равенстве дисперсий</a:t>
            </a:r>
          </a:p>
          <a:p>
            <a:pPr algn="just"/>
            <a:r>
              <a:rPr lang="ru-RU" dirty="0">
                <a:latin typeface="Times New Roman" panose="02020603050405020304" pitchFamily="18" charset="0"/>
                <a:cs typeface="Times New Roman" panose="02020603050405020304" pitchFamily="18" charset="0"/>
              </a:rPr>
              <a:t>5)Находим количество не сдавших дисциплину. Вычисляем вероятность не сдать по каждому плану. Сравниваем вероятности с помощью Z-теста </a:t>
            </a:r>
          </a:p>
          <a:p>
            <a:pPr algn="just"/>
            <a:r>
              <a:rPr lang="ru-RU" dirty="0">
                <a:latin typeface="Times New Roman" panose="02020603050405020304" pitchFamily="18" charset="0"/>
                <a:cs typeface="Times New Roman" panose="02020603050405020304" pitchFamily="18" charset="0"/>
              </a:rPr>
              <a:t>5.2) Аналогично сравниваем вероятности получения хороших оценок (4 и 5, т.е. 70+ баллов)</a:t>
            </a:r>
          </a:p>
          <a:p>
            <a:pPr algn="just"/>
            <a:r>
              <a:rPr lang="ru-RU" dirty="0">
                <a:latin typeface="Times New Roman" panose="02020603050405020304" pitchFamily="18" charset="0"/>
                <a:cs typeface="Times New Roman" panose="02020603050405020304" pitchFamily="18" charset="0"/>
              </a:rPr>
              <a:t>6) На основе получившегося делаем вывод какой план лучше, на что стоит обратить внимание.</a:t>
            </a:r>
          </a:p>
        </p:txBody>
      </p:sp>
    </p:spTree>
    <p:extLst>
      <p:ext uri="{BB962C8B-B14F-4D97-AF65-F5344CB8AC3E}">
        <p14:creationId xmlns:p14="http://schemas.microsoft.com/office/powerpoint/2010/main" val="167915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9669486-C1A7-4A4D-87EB-76614DE40663}"/>
              </a:ext>
            </a:extLst>
          </p:cNvPr>
          <p:cNvPicPr>
            <a:picLocks noChangeAspect="1"/>
          </p:cNvPicPr>
          <p:nvPr/>
        </p:nvPicPr>
        <p:blipFill>
          <a:blip r:embed="rId2"/>
          <a:stretch>
            <a:fillRect/>
          </a:stretch>
        </p:blipFill>
        <p:spPr>
          <a:xfrm>
            <a:off x="3715792" y="3271540"/>
            <a:ext cx="7272275" cy="3486171"/>
          </a:xfrm>
          <a:prstGeom prst="rect">
            <a:avLst/>
          </a:prstGeom>
        </p:spPr>
      </p:pic>
      <p:pic>
        <p:nvPicPr>
          <p:cNvPr id="3" name="Рисунок 2">
            <a:extLst>
              <a:ext uri="{FF2B5EF4-FFF2-40B4-BE49-F238E27FC236}">
                <a16:creationId xmlns:a16="http://schemas.microsoft.com/office/drawing/2014/main" id="{24907488-5118-4920-8E1D-AE730B80790F}"/>
              </a:ext>
            </a:extLst>
          </p:cNvPr>
          <p:cNvPicPr>
            <a:picLocks noChangeAspect="1"/>
          </p:cNvPicPr>
          <p:nvPr/>
        </p:nvPicPr>
        <p:blipFill>
          <a:blip r:embed="rId3"/>
          <a:stretch>
            <a:fillRect/>
          </a:stretch>
        </p:blipFill>
        <p:spPr>
          <a:xfrm>
            <a:off x="3715792" y="-159008"/>
            <a:ext cx="7272275" cy="3588008"/>
          </a:xfrm>
          <a:prstGeom prst="rect">
            <a:avLst/>
          </a:prstGeom>
        </p:spPr>
      </p:pic>
      <p:sp>
        <p:nvSpPr>
          <p:cNvPr id="14" name="TextBox 13">
            <a:extLst>
              <a:ext uri="{FF2B5EF4-FFF2-40B4-BE49-F238E27FC236}">
                <a16:creationId xmlns:a16="http://schemas.microsoft.com/office/drawing/2014/main" id="{3246EBF4-8F06-4C93-BA48-A5B46F039903}"/>
              </a:ext>
            </a:extLst>
          </p:cNvPr>
          <p:cNvSpPr txBox="1"/>
          <p:nvPr/>
        </p:nvSpPr>
        <p:spPr>
          <a:xfrm>
            <a:off x="545932" y="-159008"/>
            <a:ext cx="6096000" cy="2585323"/>
          </a:xfrm>
          <a:prstGeom prst="rect">
            <a:avLst/>
          </a:prstGeom>
          <a:noFill/>
        </p:spPr>
        <p:txBody>
          <a:bodyPr wrap="square">
            <a:spAutoFit/>
          </a:bodyPr>
          <a:lstStyle/>
          <a:p>
            <a:endParaRPr lang="ru-RU" dirty="0"/>
          </a:p>
          <a:p>
            <a:r>
              <a:rPr lang="ru-RU" b="1" dirty="0"/>
              <a:t>Очистка данных для предмета: ДМ</a:t>
            </a:r>
          </a:p>
          <a:p>
            <a:endParaRPr lang="ru-RU" b="1" dirty="0"/>
          </a:p>
          <a:p>
            <a:endParaRPr lang="ru-RU" b="1" dirty="0"/>
          </a:p>
          <a:p>
            <a:endParaRPr lang="ru-RU" b="1" dirty="0"/>
          </a:p>
          <a:p>
            <a:r>
              <a:rPr lang="ru-RU" dirty="0"/>
              <a:t>План 1:</a:t>
            </a:r>
          </a:p>
          <a:p>
            <a:endParaRPr lang="ru-RU" dirty="0"/>
          </a:p>
          <a:p>
            <a:r>
              <a:rPr lang="ru-RU" dirty="0"/>
              <a:t>Удалено выбросов: 1</a:t>
            </a:r>
          </a:p>
          <a:p>
            <a:r>
              <a:rPr lang="ru-RU" dirty="0"/>
              <a:t>Осталось точек: 109</a:t>
            </a:r>
          </a:p>
        </p:txBody>
      </p:sp>
      <p:sp>
        <p:nvSpPr>
          <p:cNvPr id="16" name="TextBox 15">
            <a:extLst>
              <a:ext uri="{FF2B5EF4-FFF2-40B4-BE49-F238E27FC236}">
                <a16:creationId xmlns:a16="http://schemas.microsoft.com/office/drawing/2014/main" id="{9BC95190-C4AE-4ED0-B2C3-21C1122509A8}"/>
              </a:ext>
            </a:extLst>
          </p:cNvPr>
          <p:cNvSpPr txBox="1"/>
          <p:nvPr/>
        </p:nvSpPr>
        <p:spPr>
          <a:xfrm>
            <a:off x="545932" y="4274225"/>
            <a:ext cx="6096000" cy="1200329"/>
          </a:xfrm>
          <a:prstGeom prst="rect">
            <a:avLst/>
          </a:prstGeom>
          <a:noFill/>
        </p:spPr>
        <p:txBody>
          <a:bodyPr wrap="square">
            <a:spAutoFit/>
          </a:bodyPr>
          <a:lstStyle/>
          <a:p>
            <a:r>
              <a:rPr lang="ru-RU" dirty="0"/>
              <a:t>План 2:</a:t>
            </a:r>
          </a:p>
          <a:p>
            <a:endParaRPr lang="ru-RU" dirty="0"/>
          </a:p>
          <a:p>
            <a:r>
              <a:rPr lang="ru-RU" dirty="0"/>
              <a:t>Удалено выбросов: 4</a:t>
            </a:r>
          </a:p>
          <a:p>
            <a:r>
              <a:rPr lang="ru-RU" dirty="0"/>
              <a:t>Осталось точек: 140</a:t>
            </a:r>
          </a:p>
        </p:txBody>
      </p:sp>
    </p:spTree>
    <p:extLst>
      <p:ext uri="{BB962C8B-B14F-4D97-AF65-F5344CB8AC3E}">
        <p14:creationId xmlns:p14="http://schemas.microsoft.com/office/powerpoint/2010/main" val="1081100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4A841DD-9033-4BA5-A43D-60FCAA072C0C}"/>
              </a:ext>
            </a:extLst>
          </p:cNvPr>
          <p:cNvPicPr>
            <a:picLocks noChangeAspect="1"/>
          </p:cNvPicPr>
          <p:nvPr/>
        </p:nvPicPr>
        <p:blipFill>
          <a:blip r:embed="rId2"/>
          <a:stretch>
            <a:fillRect/>
          </a:stretch>
        </p:blipFill>
        <p:spPr>
          <a:xfrm>
            <a:off x="3715793" y="18091"/>
            <a:ext cx="7394134" cy="3291073"/>
          </a:xfrm>
          <a:prstGeom prst="rect">
            <a:avLst/>
          </a:prstGeom>
        </p:spPr>
      </p:pic>
      <p:pic>
        <p:nvPicPr>
          <p:cNvPr id="1026" name="Picture 2">
            <a:extLst>
              <a:ext uri="{FF2B5EF4-FFF2-40B4-BE49-F238E27FC236}">
                <a16:creationId xmlns:a16="http://schemas.microsoft.com/office/drawing/2014/main" id="{66F997AB-B336-49BE-BCE4-43ECEDBF1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5793" y="3309164"/>
            <a:ext cx="7394134" cy="335931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DCCF489-41AC-43EB-9EA4-431A20F52597}"/>
              </a:ext>
            </a:extLst>
          </p:cNvPr>
          <p:cNvSpPr txBox="1"/>
          <p:nvPr/>
        </p:nvSpPr>
        <p:spPr>
          <a:xfrm>
            <a:off x="352425" y="131410"/>
            <a:ext cx="6096000" cy="5632311"/>
          </a:xfrm>
          <a:prstGeom prst="rect">
            <a:avLst/>
          </a:prstGeom>
          <a:noFill/>
        </p:spPr>
        <p:txBody>
          <a:bodyPr wrap="square">
            <a:spAutoFit/>
          </a:bodyPr>
          <a:lstStyle/>
          <a:p>
            <a:r>
              <a:rPr lang="ru-RU" b="1" dirty="0"/>
              <a:t>Очистка данных для предмета: </a:t>
            </a:r>
            <a:r>
              <a:rPr lang="ru-RU" b="1" dirty="0" err="1"/>
              <a:t>ТВиМС</a:t>
            </a:r>
            <a:endParaRPr lang="ru-RU" b="1" dirty="0"/>
          </a:p>
          <a:p>
            <a:endParaRPr lang="ru-RU" b="1" dirty="0"/>
          </a:p>
          <a:p>
            <a:endParaRPr lang="ru-RU" b="1" dirty="0"/>
          </a:p>
          <a:p>
            <a:endParaRPr lang="ru-RU" b="1" dirty="0"/>
          </a:p>
          <a:p>
            <a:r>
              <a:rPr lang="ru-RU" dirty="0"/>
              <a:t>План 1:</a:t>
            </a:r>
          </a:p>
          <a:p>
            <a:endParaRPr lang="ru-RU" dirty="0"/>
          </a:p>
          <a:p>
            <a:r>
              <a:rPr lang="ru-RU" dirty="0"/>
              <a:t>Удалено выбросов: 1</a:t>
            </a:r>
          </a:p>
          <a:p>
            <a:r>
              <a:rPr lang="ru-RU" dirty="0"/>
              <a:t>Осталось точек: 110</a:t>
            </a:r>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r>
              <a:rPr lang="ru-RU" dirty="0"/>
              <a:t>План 2:</a:t>
            </a:r>
          </a:p>
          <a:p>
            <a:endParaRPr lang="ru-RU" dirty="0"/>
          </a:p>
          <a:p>
            <a:r>
              <a:rPr lang="ru-RU" dirty="0"/>
              <a:t>Удалено выбросов: 5</a:t>
            </a:r>
          </a:p>
          <a:p>
            <a:r>
              <a:rPr lang="ru-RU" dirty="0"/>
              <a:t>Осталось точек: 147</a:t>
            </a:r>
          </a:p>
        </p:txBody>
      </p:sp>
    </p:spTree>
    <p:extLst>
      <p:ext uri="{BB962C8B-B14F-4D97-AF65-F5344CB8AC3E}">
        <p14:creationId xmlns:p14="http://schemas.microsoft.com/office/powerpoint/2010/main" val="3675537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1B2231-A1D4-4D2A-8165-5373BEF769E0}"/>
              </a:ext>
            </a:extLst>
          </p:cNvPr>
          <p:cNvSpPr txBox="1"/>
          <p:nvPr/>
        </p:nvSpPr>
        <p:spPr>
          <a:xfrm>
            <a:off x="742950" y="136089"/>
            <a:ext cx="6096000" cy="6186309"/>
          </a:xfrm>
          <a:prstGeom prst="rect">
            <a:avLst/>
          </a:prstGeom>
          <a:noFill/>
        </p:spPr>
        <p:txBody>
          <a:bodyPr wrap="square">
            <a:spAutoFit/>
          </a:bodyPr>
          <a:lstStyle/>
          <a:p>
            <a:r>
              <a:rPr lang="ru-RU" b="1" dirty="0"/>
              <a:t>Очистка данных для предмета: ДУ</a:t>
            </a:r>
          </a:p>
          <a:p>
            <a:endParaRPr lang="ru-RU" b="1" dirty="0"/>
          </a:p>
          <a:p>
            <a:endParaRPr lang="ru-RU" b="1" dirty="0"/>
          </a:p>
          <a:p>
            <a:r>
              <a:rPr lang="ru-RU" dirty="0"/>
              <a:t>План 1:</a:t>
            </a:r>
          </a:p>
          <a:p>
            <a:endParaRPr lang="ru-RU" dirty="0"/>
          </a:p>
          <a:p>
            <a:r>
              <a:rPr lang="ru-RU" dirty="0"/>
              <a:t>Удалено выбросов: 6</a:t>
            </a:r>
          </a:p>
          <a:p>
            <a:r>
              <a:rPr lang="ru-RU" dirty="0"/>
              <a:t>Осталось точек: 137</a:t>
            </a:r>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endParaRPr lang="ru-RU" dirty="0"/>
          </a:p>
          <a:p>
            <a:r>
              <a:rPr lang="ru-RU" dirty="0"/>
              <a:t>План 2:</a:t>
            </a:r>
          </a:p>
          <a:p>
            <a:endParaRPr lang="ru-RU" dirty="0"/>
          </a:p>
          <a:p>
            <a:r>
              <a:rPr lang="ru-RU" dirty="0"/>
              <a:t>Удалено выбросов: 1</a:t>
            </a:r>
          </a:p>
          <a:p>
            <a:r>
              <a:rPr lang="ru-RU" dirty="0"/>
              <a:t>Осталось точек: 143</a:t>
            </a:r>
          </a:p>
        </p:txBody>
      </p:sp>
      <p:pic>
        <p:nvPicPr>
          <p:cNvPr id="6" name="Рисунок 5">
            <a:extLst>
              <a:ext uri="{FF2B5EF4-FFF2-40B4-BE49-F238E27FC236}">
                <a16:creationId xmlns:a16="http://schemas.microsoft.com/office/drawing/2014/main" id="{841F069E-EC99-485F-B87B-F338AFDA05A5}"/>
              </a:ext>
            </a:extLst>
          </p:cNvPr>
          <p:cNvPicPr>
            <a:picLocks noChangeAspect="1"/>
          </p:cNvPicPr>
          <p:nvPr/>
        </p:nvPicPr>
        <p:blipFill>
          <a:blip r:embed="rId2"/>
          <a:stretch>
            <a:fillRect/>
          </a:stretch>
        </p:blipFill>
        <p:spPr>
          <a:xfrm>
            <a:off x="4705349" y="332358"/>
            <a:ext cx="7115175" cy="3219450"/>
          </a:xfrm>
          <a:prstGeom prst="rect">
            <a:avLst/>
          </a:prstGeom>
        </p:spPr>
      </p:pic>
      <p:pic>
        <p:nvPicPr>
          <p:cNvPr id="7" name="Рисунок 6">
            <a:extLst>
              <a:ext uri="{FF2B5EF4-FFF2-40B4-BE49-F238E27FC236}">
                <a16:creationId xmlns:a16="http://schemas.microsoft.com/office/drawing/2014/main" id="{2E83787E-6792-4DEF-A720-3DF3EA5CB2E5}"/>
              </a:ext>
            </a:extLst>
          </p:cNvPr>
          <p:cNvPicPr>
            <a:picLocks noChangeAspect="1"/>
          </p:cNvPicPr>
          <p:nvPr/>
        </p:nvPicPr>
        <p:blipFill>
          <a:blip r:embed="rId3"/>
          <a:stretch>
            <a:fillRect/>
          </a:stretch>
        </p:blipFill>
        <p:spPr>
          <a:xfrm>
            <a:off x="4705349" y="3551808"/>
            <a:ext cx="7115175" cy="3306192"/>
          </a:xfrm>
          <a:prstGeom prst="rect">
            <a:avLst/>
          </a:prstGeom>
        </p:spPr>
      </p:pic>
    </p:spTree>
    <p:extLst>
      <p:ext uri="{BB962C8B-B14F-4D97-AF65-F5344CB8AC3E}">
        <p14:creationId xmlns:p14="http://schemas.microsoft.com/office/powerpoint/2010/main" val="380001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Прямоугольник 53">
            <a:extLst>
              <a:ext uri="{FF2B5EF4-FFF2-40B4-BE49-F238E27FC236}">
                <a16:creationId xmlns:a16="http://schemas.microsoft.com/office/drawing/2014/main" id="{04C63EF8-4A95-414D-9FCA-C4C0F2D2175F}"/>
              </a:ext>
            </a:extLst>
          </p:cNvPr>
          <p:cNvSpPr/>
          <p:nvPr/>
        </p:nvSpPr>
        <p:spPr>
          <a:xfrm>
            <a:off x="340312" y="229927"/>
            <a:ext cx="4936538" cy="5324535"/>
          </a:xfrm>
          <a:prstGeom prst="rect">
            <a:avLst/>
          </a:prstGeom>
        </p:spPr>
        <p:txBody>
          <a:bodyPr wrap="square">
            <a:spAutoFit/>
          </a:bodyPr>
          <a:lstStyle/>
          <a:p>
            <a:r>
              <a:rPr lang="ru-RU" sz="2000" b="0" i="0" dirty="0">
                <a:solidFill>
                  <a:srgbClr val="1F1F1F"/>
                </a:solidFill>
                <a:effectLst/>
                <a:latin typeface="Courier New" panose="02070309020205020404" pitchFamily="49" charset="0"/>
              </a:rPr>
              <a:t>Статистические характеристики: </a:t>
            </a:r>
          </a:p>
          <a:p>
            <a:r>
              <a:rPr lang="ru-RU" sz="1600" b="0" i="0" dirty="0">
                <a:solidFill>
                  <a:srgbClr val="1F1F1F"/>
                </a:solidFill>
                <a:effectLst/>
                <a:latin typeface="Courier New" panose="02070309020205020404" pitchFamily="49" charset="0"/>
              </a:rPr>
              <a:t>Предмет: ДМ </a:t>
            </a:r>
          </a:p>
          <a:p>
            <a:r>
              <a:rPr lang="ru-RU" sz="1600" b="0" i="0" dirty="0">
                <a:solidFill>
                  <a:srgbClr val="1F1F1F"/>
                </a:solidFill>
                <a:effectLst/>
                <a:latin typeface="Courier New" panose="02070309020205020404" pitchFamily="49" charset="0"/>
              </a:rPr>
              <a:t>План 1: </a:t>
            </a:r>
          </a:p>
          <a:p>
            <a:r>
              <a:rPr lang="ru-RU" sz="1600" b="0" i="0" dirty="0">
                <a:solidFill>
                  <a:srgbClr val="1F1F1F"/>
                </a:solidFill>
                <a:effectLst/>
                <a:latin typeface="Courier New" panose="02070309020205020404" pitchFamily="49" charset="0"/>
              </a:rPr>
              <a:t>  Объем выборки:108 </a:t>
            </a:r>
          </a:p>
          <a:p>
            <a:r>
              <a:rPr lang="ru-RU" sz="1600" b="0" i="0" dirty="0">
                <a:solidFill>
                  <a:srgbClr val="1F1F1F"/>
                </a:solidFill>
                <a:effectLst/>
                <a:latin typeface="Courier New" panose="02070309020205020404" pitchFamily="49" charset="0"/>
              </a:rPr>
              <a:t>  Медиана: 0.60 </a:t>
            </a:r>
          </a:p>
          <a:p>
            <a:r>
              <a:rPr lang="ru-RU" sz="1600" b="0" i="0" dirty="0">
                <a:solidFill>
                  <a:srgbClr val="1F1F1F"/>
                </a:solidFill>
                <a:effectLst/>
                <a:latin typeface="Courier New" panose="02070309020205020404" pitchFamily="49" charset="0"/>
              </a:rPr>
              <a:t>  Дисперсия: 0.04 </a:t>
            </a:r>
          </a:p>
          <a:p>
            <a:r>
              <a:rPr lang="ru-RU" sz="1600" b="0" i="0" dirty="0">
                <a:solidFill>
                  <a:srgbClr val="1F1F1F"/>
                </a:solidFill>
                <a:effectLst/>
                <a:latin typeface="Courier New" panose="02070309020205020404" pitchFamily="49" charset="0"/>
              </a:rPr>
              <a:t>  Коэффициент асимметрии: -0.59 </a:t>
            </a:r>
          </a:p>
          <a:p>
            <a:r>
              <a:rPr lang="ru-RU" sz="1600" b="0" i="0" dirty="0">
                <a:solidFill>
                  <a:srgbClr val="1F1F1F"/>
                </a:solidFill>
                <a:effectLst/>
                <a:latin typeface="Courier New" panose="02070309020205020404" pitchFamily="49" charset="0"/>
              </a:rPr>
              <a:t>  Математическое ожидание: 0.59 </a:t>
            </a:r>
          </a:p>
          <a:p>
            <a:r>
              <a:rPr lang="ru-RU" sz="1600" b="0" i="0" dirty="0">
                <a:solidFill>
                  <a:srgbClr val="1F1F1F"/>
                </a:solidFill>
                <a:effectLst/>
                <a:latin typeface="Courier New" panose="02070309020205020404" pitchFamily="49" charset="0"/>
              </a:rPr>
              <a:t>План 2: </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Объем выборки:140</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Медиана: 0.65</a:t>
            </a:r>
          </a:p>
          <a:p>
            <a:r>
              <a:rPr lang="ru-RU" sz="1600" b="0" i="0" dirty="0">
                <a:solidFill>
                  <a:srgbClr val="1F1F1F"/>
                </a:solidFill>
                <a:effectLst/>
                <a:latin typeface="Courier New" panose="02070309020205020404" pitchFamily="49" charset="0"/>
              </a:rPr>
              <a:t>  Дисперсия: 0.05</a:t>
            </a:r>
          </a:p>
          <a:p>
            <a:r>
              <a:rPr lang="ru-RU" sz="1600" b="0" i="0" dirty="0">
                <a:solidFill>
                  <a:srgbClr val="1F1F1F"/>
                </a:solidFill>
                <a:effectLst/>
                <a:latin typeface="Courier New" panose="02070309020205020404" pitchFamily="49" charset="0"/>
              </a:rPr>
              <a:t>  Коэффициент асимметрии: -0.52</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Математическое ожидание: 0.62 </a:t>
            </a:r>
          </a:p>
          <a:p>
            <a:r>
              <a:rPr lang="ru-RU" sz="1600" b="0" i="0" dirty="0">
                <a:solidFill>
                  <a:srgbClr val="1F1F1F"/>
                </a:solidFill>
                <a:effectLst/>
                <a:latin typeface="Courier New" panose="02070309020205020404" pitchFamily="49" charset="0"/>
              </a:rPr>
              <a:t>Предмет: </a:t>
            </a:r>
            <a:r>
              <a:rPr lang="ru-RU" sz="1600" b="0" i="0" dirty="0" err="1">
                <a:solidFill>
                  <a:srgbClr val="1F1F1F"/>
                </a:solidFill>
                <a:effectLst/>
                <a:latin typeface="Courier New" panose="02070309020205020404" pitchFamily="49" charset="0"/>
              </a:rPr>
              <a:t>ТВиМС</a:t>
            </a:r>
            <a:endParaRPr lang="ru-RU" sz="1600" b="0" i="0" dirty="0">
              <a:solidFill>
                <a:srgbClr val="1F1F1F"/>
              </a:solidFill>
              <a:effectLst/>
              <a:latin typeface="Courier New" panose="02070309020205020404" pitchFamily="49" charset="0"/>
            </a:endParaRPr>
          </a:p>
          <a:p>
            <a:r>
              <a:rPr lang="ru-RU" sz="1600" b="0" i="0" dirty="0">
                <a:solidFill>
                  <a:srgbClr val="1F1F1F"/>
                </a:solidFill>
                <a:effectLst/>
                <a:latin typeface="Courier New" panose="02070309020205020404" pitchFamily="49" charset="0"/>
              </a:rPr>
              <a:t>План 1: </a:t>
            </a:r>
          </a:p>
          <a:p>
            <a:r>
              <a:rPr lang="ru-RU" sz="1600" b="0" i="0" dirty="0">
                <a:solidFill>
                  <a:srgbClr val="1F1F1F"/>
                </a:solidFill>
                <a:effectLst/>
                <a:latin typeface="Courier New" panose="02070309020205020404" pitchFamily="49" charset="0"/>
              </a:rPr>
              <a:t>  Объем выборки:108</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Медиана: 0.66</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Дисперсия: 0.03</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Коэффициент асимметрии: -0.40</a:t>
            </a:r>
          </a:p>
          <a:p>
            <a:r>
              <a:rPr lang="ru-RU" sz="1600" dirty="0">
                <a:solidFill>
                  <a:srgbClr val="1F1F1F"/>
                </a:solidFill>
                <a:latin typeface="Courier New" panose="02070309020205020404" pitchFamily="49" charset="0"/>
              </a:rPr>
              <a:t> </a:t>
            </a:r>
            <a:r>
              <a:rPr lang="ru-RU" sz="1600" b="0" i="0" dirty="0">
                <a:solidFill>
                  <a:srgbClr val="1F1F1F"/>
                </a:solidFill>
                <a:effectLst/>
                <a:latin typeface="Courier New" panose="02070309020205020404" pitchFamily="49" charset="0"/>
              </a:rPr>
              <a:t> Математическое ожидание: 0.65</a:t>
            </a:r>
          </a:p>
        </p:txBody>
      </p:sp>
      <p:sp>
        <p:nvSpPr>
          <p:cNvPr id="55" name="Прямоугольник 54">
            <a:extLst>
              <a:ext uri="{FF2B5EF4-FFF2-40B4-BE49-F238E27FC236}">
                <a16:creationId xmlns:a16="http://schemas.microsoft.com/office/drawing/2014/main" id="{6726954F-8CFD-4D60-8B62-5981F95BCEF5}"/>
              </a:ext>
            </a:extLst>
          </p:cNvPr>
          <p:cNvSpPr/>
          <p:nvPr/>
        </p:nvSpPr>
        <p:spPr>
          <a:xfrm>
            <a:off x="5434983" y="783925"/>
            <a:ext cx="6096000" cy="4770537"/>
          </a:xfrm>
          <a:prstGeom prst="rect">
            <a:avLst/>
          </a:prstGeom>
        </p:spPr>
        <p:txBody>
          <a:bodyPr>
            <a:spAutoFit/>
          </a:bodyPr>
          <a:lstStyle/>
          <a:p>
            <a:r>
              <a:rPr lang="ru-RU" sz="1600" dirty="0">
                <a:solidFill>
                  <a:srgbClr val="1F1F1F"/>
                </a:solidFill>
                <a:latin typeface="Courier New" panose="02070309020205020404" pitchFamily="49" charset="0"/>
              </a:rPr>
              <a:t>План 2: </a:t>
            </a:r>
          </a:p>
          <a:p>
            <a:r>
              <a:rPr lang="ru-RU" sz="1600" dirty="0">
                <a:solidFill>
                  <a:srgbClr val="1F1F1F"/>
                </a:solidFill>
                <a:latin typeface="Courier New" panose="02070309020205020404" pitchFamily="49" charset="0"/>
              </a:rPr>
              <a:t>  Объем выборки:147</a:t>
            </a:r>
          </a:p>
          <a:p>
            <a:r>
              <a:rPr lang="ru-RU" sz="1600" dirty="0">
                <a:solidFill>
                  <a:srgbClr val="1F1F1F"/>
                </a:solidFill>
                <a:latin typeface="Courier New" panose="02070309020205020404" pitchFamily="49" charset="0"/>
              </a:rPr>
              <a:t>  Медиана: 0.62 </a:t>
            </a:r>
          </a:p>
          <a:p>
            <a:r>
              <a:rPr lang="ru-RU" sz="1600" dirty="0">
                <a:solidFill>
                  <a:srgbClr val="1F1F1F"/>
                </a:solidFill>
                <a:latin typeface="Courier New" panose="02070309020205020404" pitchFamily="49" charset="0"/>
              </a:rPr>
              <a:t>  Дисперсия: 0.05</a:t>
            </a:r>
          </a:p>
          <a:p>
            <a:r>
              <a:rPr lang="ru-RU" sz="1600" dirty="0">
                <a:solidFill>
                  <a:srgbClr val="1F1F1F"/>
                </a:solidFill>
                <a:latin typeface="Courier New" panose="02070309020205020404" pitchFamily="49" charset="0"/>
              </a:rPr>
              <a:t>  Коэффициент асимметрии: -0.42</a:t>
            </a:r>
          </a:p>
          <a:p>
            <a:r>
              <a:rPr lang="ru-RU" sz="1600" dirty="0">
                <a:solidFill>
                  <a:srgbClr val="1F1F1F"/>
                </a:solidFill>
                <a:latin typeface="Courier New" panose="02070309020205020404" pitchFamily="49" charset="0"/>
              </a:rPr>
              <a:t>  Математическое ожидание: 0.60 </a:t>
            </a:r>
          </a:p>
          <a:p>
            <a:r>
              <a:rPr lang="ru-RU" sz="1600" dirty="0">
                <a:solidFill>
                  <a:srgbClr val="1F1F1F"/>
                </a:solidFill>
                <a:latin typeface="Courier New" panose="02070309020205020404" pitchFamily="49" charset="0"/>
              </a:rPr>
              <a:t>Предмет: ДУ </a:t>
            </a:r>
          </a:p>
          <a:p>
            <a:r>
              <a:rPr lang="ru-RU" sz="1600" dirty="0">
                <a:solidFill>
                  <a:srgbClr val="1F1F1F"/>
                </a:solidFill>
                <a:latin typeface="Courier New" panose="02070309020205020404" pitchFamily="49" charset="0"/>
              </a:rPr>
              <a:t>План 1:</a:t>
            </a:r>
          </a:p>
          <a:p>
            <a:r>
              <a:rPr lang="ru-RU" sz="1600" dirty="0">
                <a:solidFill>
                  <a:srgbClr val="1F1F1F"/>
                </a:solidFill>
                <a:latin typeface="Courier New" panose="02070309020205020404" pitchFamily="49" charset="0"/>
              </a:rPr>
              <a:t>  Объем выборки:137</a:t>
            </a:r>
          </a:p>
          <a:p>
            <a:r>
              <a:rPr lang="ru-RU" sz="1600" dirty="0">
                <a:solidFill>
                  <a:srgbClr val="1F1F1F"/>
                </a:solidFill>
                <a:latin typeface="Courier New" panose="02070309020205020404" pitchFamily="49" charset="0"/>
              </a:rPr>
              <a:t>  Медиана: 0.72 </a:t>
            </a:r>
          </a:p>
          <a:p>
            <a:r>
              <a:rPr lang="ru-RU" sz="1600" dirty="0">
                <a:solidFill>
                  <a:srgbClr val="1F1F1F"/>
                </a:solidFill>
                <a:latin typeface="Courier New" panose="02070309020205020404" pitchFamily="49" charset="0"/>
              </a:rPr>
              <a:t>  Дисперсия: 0.06</a:t>
            </a:r>
          </a:p>
          <a:p>
            <a:r>
              <a:rPr lang="ru-RU" sz="1600" dirty="0">
                <a:solidFill>
                  <a:srgbClr val="1F1F1F"/>
                </a:solidFill>
                <a:latin typeface="Courier New" panose="02070309020205020404" pitchFamily="49" charset="0"/>
              </a:rPr>
              <a:t>  Коэффициент асимметрии: -0.95</a:t>
            </a:r>
          </a:p>
          <a:p>
            <a:r>
              <a:rPr lang="ru-RU" sz="1600" dirty="0">
                <a:solidFill>
                  <a:srgbClr val="1F1F1F"/>
                </a:solidFill>
                <a:latin typeface="Courier New" panose="02070309020205020404" pitchFamily="49" charset="0"/>
              </a:rPr>
              <a:t>  Математическое ожидание: 0.67</a:t>
            </a:r>
          </a:p>
          <a:p>
            <a:r>
              <a:rPr lang="ru-RU" sz="1600" dirty="0">
                <a:solidFill>
                  <a:srgbClr val="1F1F1F"/>
                </a:solidFill>
                <a:latin typeface="Courier New" panose="02070309020205020404" pitchFamily="49" charset="0"/>
              </a:rPr>
              <a:t>План 2:</a:t>
            </a:r>
          </a:p>
          <a:p>
            <a:r>
              <a:rPr lang="ru-RU" sz="1600" dirty="0">
                <a:solidFill>
                  <a:srgbClr val="1F1F1F"/>
                </a:solidFill>
                <a:latin typeface="Courier New" panose="02070309020205020404" pitchFamily="49" charset="0"/>
              </a:rPr>
              <a:t>  Объем выборки:142</a:t>
            </a:r>
          </a:p>
          <a:p>
            <a:r>
              <a:rPr lang="ru-RU" sz="1600" dirty="0">
                <a:solidFill>
                  <a:srgbClr val="1F1F1F"/>
                </a:solidFill>
                <a:latin typeface="Courier New" panose="02070309020205020404" pitchFamily="49" charset="0"/>
              </a:rPr>
              <a:t>  Медиана: 0.78</a:t>
            </a:r>
          </a:p>
          <a:p>
            <a:r>
              <a:rPr lang="ru-RU" sz="1600" dirty="0">
                <a:solidFill>
                  <a:srgbClr val="1F1F1F"/>
                </a:solidFill>
                <a:latin typeface="Courier New" panose="02070309020205020404" pitchFamily="49" charset="0"/>
              </a:rPr>
              <a:t>  Дисперсия: 0.03</a:t>
            </a:r>
          </a:p>
          <a:p>
            <a:r>
              <a:rPr lang="ru-RU" sz="1600" dirty="0">
                <a:solidFill>
                  <a:srgbClr val="1F1F1F"/>
                </a:solidFill>
                <a:latin typeface="Courier New" panose="02070309020205020404" pitchFamily="49" charset="0"/>
              </a:rPr>
              <a:t>  Коэффициент асимметрии: -0.96</a:t>
            </a:r>
          </a:p>
          <a:p>
            <a:r>
              <a:rPr lang="ru-RU" sz="1600" dirty="0">
                <a:solidFill>
                  <a:srgbClr val="1F1F1F"/>
                </a:solidFill>
                <a:latin typeface="Courier New" panose="02070309020205020404" pitchFamily="49" charset="0"/>
              </a:rPr>
              <a:t>  Математическое ожидание: 0.77</a:t>
            </a:r>
            <a:endParaRPr lang="ru-RU" sz="1600" dirty="0"/>
          </a:p>
        </p:txBody>
      </p:sp>
    </p:spTree>
    <p:extLst>
      <p:ext uri="{BB962C8B-B14F-4D97-AF65-F5344CB8AC3E}">
        <p14:creationId xmlns:p14="http://schemas.microsoft.com/office/powerpoint/2010/main" val="2937463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53528ECB-CA68-4909-8AC2-EA7591189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427" y="712433"/>
            <a:ext cx="10949146" cy="543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71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C8F79737-DC6F-462F-A74C-284554E898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8" y="619125"/>
            <a:ext cx="11325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725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3C297015-A2A5-4A71-93D3-F2D9731A4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 y="619125"/>
            <a:ext cx="113252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245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AACA11F-2FA2-4D33-83E7-0334F8FA895A}"/>
              </a:ext>
            </a:extLst>
          </p:cNvPr>
          <p:cNvSpPr/>
          <p:nvPr/>
        </p:nvSpPr>
        <p:spPr>
          <a:xfrm>
            <a:off x="313677" y="158369"/>
            <a:ext cx="9886766" cy="3354765"/>
          </a:xfrm>
          <a:prstGeom prst="rect">
            <a:avLst/>
          </a:prstGeom>
        </p:spPr>
        <p:txBody>
          <a:bodyPr wrap="square">
            <a:spAutoFit/>
          </a:bodyPr>
          <a:lstStyle/>
          <a:p>
            <a:r>
              <a:rPr lang="ru-RU" sz="2000" b="0" i="0" dirty="0" err="1">
                <a:solidFill>
                  <a:srgbClr val="1F1F1F"/>
                </a:solidFill>
                <a:effectLst/>
                <a:latin typeface="Courier New" panose="02070309020205020404" pitchFamily="49" charset="0"/>
              </a:rPr>
              <a:t>Бутстреп</a:t>
            </a:r>
            <a:r>
              <a:rPr lang="ru-RU" sz="2000" b="0" i="0" dirty="0">
                <a:solidFill>
                  <a:srgbClr val="1F1F1F"/>
                </a:solidFill>
                <a:effectLst/>
                <a:latin typeface="Courier New" panose="02070309020205020404" pitchFamily="49" charset="0"/>
              </a:rPr>
              <a:t> тест для предмета: ДМ</a:t>
            </a:r>
          </a:p>
          <a:p>
            <a:r>
              <a:rPr lang="ru-RU" b="0" i="0" dirty="0">
                <a:solidFill>
                  <a:srgbClr val="1F1F1F"/>
                </a:solidFill>
                <a:effectLst/>
                <a:latin typeface="Courier New" panose="02070309020205020404" pitchFamily="49" charset="0"/>
              </a:rPr>
              <a:t> </a:t>
            </a:r>
            <a:r>
              <a:rPr lang="ru-RU" sz="1600" b="0" i="0" dirty="0">
                <a:solidFill>
                  <a:srgbClr val="1F1F1F"/>
                </a:solidFill>
                <a:effectLst/>
                <a:latin typeface="Courier New" panose="02070309020205020404" pitchFamily="49" charset="0"/>
              </a:rPr>
              <a:t>p-значение: 0.00039</a:t>
            </a:r>
          </a:p>
          <a:p>
            <a:r>
              <a:rPr lang="ru-RU" sz="1600" b="0" i="0" dirty="0">
                <a:solidFill>
                  <a:srgbClr val="1F1F1F"/>
                </a:solidFill>
                <a:effectLst/>
                <a:latin typeface="Courier New" panose="02070309020205020404" pitchFamily="49" charset="0"/>
              </a:rPr>
              <a:t> Результат: p &lt; 0.05, отвергаем H₀. Математические ожидания баллов для Плана 1 и Плана 2 различаются.</a:t>
            </a:r>
            <a:r>
              <a:rPr lang="ru-RU" sz="1600" dirty="0">
                <a:solidFill>
                  <a:srgbClr val="1F1F1F"/>
                </a:solidFill>
                <a:latin typeface="Courier New" panose="02070309020205020404" pitchFamily="49" charset="0"/>
              </a:rPr>
              <a:t> Средняя оценка больше у обучающихся по второму плану</a:t>
            </a:r>
            <a:endParaRPr lang="ru-RU" b="0" i="0" dirty="0">
              <a:solidFill>
                <a:srgbClr val="1F1F1F"/>
              </a:solidFill>
              <a:effectLst/>
              <a:latin typeface="Courier New" panose="02070309020205020404" pitchFamily="49" charset="0"/>
            </a:endParaRPr>
          </a:p>
          <a:p>
            <a:r>
              <a:rPr lang="ru-RU" sz="2000" b="0" i="0" dirty="0" err="1">
                <a:solidFill>
                  <a:srgbClr val="1F1F1F"/>
                </a:solidFill>
                <a:effectLst/>
                <a:latin typeface="Courier New" panose="02070309020205020404" pitchFamily="49" charset="0"/>
              </a:rPr>
              <a:t>Бутстреп</a:t>
            </a:r>
            <a:r>
              <a:rPr lang="ru-RU" sz="2000" b="0" i="0" dirty="0">
                <a:solidFill>
                  <a:srgbClr val="1F1F1F"/>
                </a:solidFill>
                <a:effectLst/>
                <a:latin typeface="Courier New" panose="02070309020205020404" pitchFamily="49" charset="0"/>
              </a:rPr>
              <a:t> тест для предмета: </a:t>
            </a:r>
            <a:r>
              <a:rPr lang="ru-RU" sz="2000" b="0" i="0" dirty="0" err="1">
                <a:solidFill>
                  <a:srgbClr val="1F1F1F"/>
                </a:solidFill>
                <a:effectLst/>
                <a:latin typeface="Courier New" panose="02070309020205020404" pitchFamily="49" charset="0"/>
              </a:rPr>
              <a:t>ТВиМС</a:t>
            </a:r>
            <a:endParaRPr lang="ru-RU" sz="2000" b="0" i="0" dirty="0">
              <a:solidFill>
                <a:srgbClr val="1F1F1F"/>
              </a:solidFill>
              <a:effectLst/>
              <a:latin typeface="Courier New" panose="02070309020205020404" pitchFamily="49" charset="0"/>
            </a:endParaRPr>
          </a:p>
          <a:p>
            <a:r>
              <a:rPr lang="ru-RU" b="0" i="0" dirty="0">
                <a:solidFill>
                  <a:srgbClr val="1F1F1F"/>
                </a:solidFill>
                <a:effectLst/>
                <a:latin typeface="Courier New" panose="02070309020205020404" pitchFamily="49" charset="0"/>
              </a:rPr>
              <a:t> </a:t>
            </a:r>
            <a:r>
              <a:rPr lang="ru-RU" sz="1600" b="0" i="0" dirty="0">
                <a:solidFill>
                  <a:srgbClr val="1F1F1F"/>
                </a:solidFill>
                <a:effectLst/>
                <a:latin typeface="Courier New" panose="02070309020205020404" pitchFamily="49" charset="0"/>
              </a:rPr>
              <a:t>p-значение: 0.14577</a:t>
            </a:r>
          </a:p>
          <a:p>
            <a:r>
              <a:rPr lang="ru-RU" sz="1600" b="0" i="0" dirty="0">
                <a:solidFill>
                  <a:srgbClr val="1F1F1F"/>
                </a:solidFill>
                <a:effectLst/>
                <a:latin typeface="Courier New" panose="02070309020205020404" pitchFamily="49" charset="0"/>
              </a:rPr>
              <a:t> Результат: p &gt;= 0.05, не отвергаем H₀. Нет достаточных оснований считать, что математические ожидания баллов различаются. </a:t>
            </a:r>
          </a:p>
          <a:p>
            <a:r>
              <a:rPr lang="ru-RU" sz="2000" b="0" i="0" dirty="0" err="1">
                <a:solidFill>
                  <a:srgbClr val="1F1F1F"/>
                </a:solidFill>
                <a:effectLst/>
                <a:latin typeface="Courier New" panose="02070309020205020404" pitchFamily="49" charset="0"/>
              </a:rPr>
              <a:t>Бутстреп</a:t>
            </a:r>
            <a:r>
              <a:rPr lang="ru-RU" sz="2000" b="0" i="0" dirty="0">
                <a:solidFill>
                  <a:srgbClr val="1F1F1F"/>
                </a:solidFill>
                <a:effectLst/>
                <a:latin typeface="Courier New" panose="02070309020205020404" pitchFamily="49" charset="0"/>
              </a:rPr>
              <a:t> тест для предмета: ДУ</a:t>
            </a:r>
          </a:p>
          <a:p>
            <a:r>
              <a:rPr lang="ru-RU" b="0" i="0" dirty="0">
                <a:solidFill>
                  <a:srgbClr val="1F1F1F"/>
                </a:solidFill>
                <a:effectLst/>
                <a:latin typeface="Courier New" panose="02070309020205020404" pitchFamily="49" charset="0"/>
              </a:rPr>
              <a:t> </a:t>
            </a:r>
            <a:r>
              <a:rPr lang="ru-RU" sz="1600" b="0" i="0" dirty="0">
                <a:solidFill>
                  <a:srgbClr val="1F1F1F"/>
                </a:solidFill>
                <a:effectLst/>
                <a:latin typeface="Courier New" panose="02070309020205020404" pitchFamily="49" charset="0"/>
              </a:rPr>
              <a:t>p-значение: 0.08480</a:t>
            </a:r>
          </a:p>
          <a:p>
            <a:r>
              <a:rPr lang="ru-RU" sz="1600" b="0" i="0" dirty="0">
                <a:solidFill>
                  <a:srgbClr val="1F1F1F"/>
                </a:solidFill>
                <a:effectLst/>
                <a:latin typeface="Courier New" panose="02070309020205020404" pitchFamily="49" charset="0"/>
              </a:rPr>
              <a:t> Результат: p &gt;= 0.05, не отвергаем H₀. Нет достаточных оснований считать, что математические ожидания баллов различаются.</a:t>
            </a:r>
            <a:endParaRPr lang="ru-RU" sz="1600" dirty="0"/>
          </a:p>
        </p:txBody>
      </p:sp>
    </p:spTree>
    <p:extLst>
      <p:ext uri="{BB962C8B-B14F-4D97-AF65-F5344CB8AC3E}">
        <p14:creationId xmlns:p14="http://schemas.microsoft.com/office/powerpoint/2010/main" val="68845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2D11B30-F96C-4D10-AE19-4F15ACC53A64}"/>
              </a:ext>
            </a:extLst>
          </p:cNvPr>
          <p:cNvSpPr/>
          <p:nvPr/>
        </p:nvSpPr>
        <p:spPr>
          <a:xfrm>
            <a:off x="207145" y="305068"/>
            <a:ext cx="6096000" cy="6247864"/>
          </a:xfrm>
          <a:prstGeom prst="rect">
            <a:avLst/>
          </a:prstGeom>
        </p:spPr>
        <p:txBody>
          <a:bodyPr>
            <a:spAutoFit/>
          </a:bodyPr>
          <a:lstStyle/>
          <a:p>
            <a:r>
              <a:rPr lang="ru-RU" sz="1600" dirty="0"/>
              <a:t>Анализ не сдавших для предмета: ДМ</a:t>
            </a:r>
          </a:p>
          <a:p>
            <a:r>
              <a:rPr lang="ru-RU" sz="1600" dirty="0"/>
              <a:t>  План 1:</a:t>
            </a:r>
          </a:p>
          <a:p>
            <a:r>
              <a:rPr lang="ru-RU" sz="1600" dirty="0"/>
              <a:t>    Не сдавших (балл &lt; 0.5): 17 из 108</a:t>
            </a:r>
          </a:p>
          <a:p>
            <a:r>
              <a:rPr lang="ru-RU" sz="1600" dirty="0"/>
              <a:t>    Вероятность не сдать: 0.1574</a:t>
            </a:r>
          </a:p>
          <a:p>
            <a:r>
              <a:rPr lang="ru-RU" sz="1600" dirty="0"/>
              <a:t>  План 2:</a:t>
            </a:r>
          </a:p>
          <a:p>
            <a:r>
              <a:rPr lang="ru-RU" sz="1600" dirty="0"/>
              <a:t>    Не сдавших (балл &lt; 0.5): 27 из 140</a:t>
            </a:r>
          </a:p>
          <a:p>
            <a:r>
              <a:rPr lang="ru-RU" sz="1600" dirty="0"/>
              <a:t>    Вероятность не сдать: 0.1929</a:t>
            </a:r>
          </a:p>
          <a:p>
            <a:r>
              <a:rPr lang="ru-RU" sz="1600" dirty="0"/>
              <a:t>  Z-тест для сравнения вероятностей:</a:t>
            </a:r>
          </a:p>
          <a:p>
            <a:r>
              <a:rPr lang="ru-RU" sz="1600" dirty="0"/>
              <a:t>    Статистика Z: -0.72</a:t>
            </a:r>
          </a:p>
          <a:p>
            <a:r>
              <a:rPr lang="ru-RU" sz="1600" dirty="0"/>
              <a:t>    p-значение: 0.4687</a:t>
            </a:r>
          </a:p>
          <a:p>
            <a:r>
              <a:rPr lang="ru-RU" sz="1600" dirty="0"/>
              <a:t>    Результат: p &gt;= 0.05, не отвергаем H₀. Нет достаточных оснований считать, что вероятности не сдать различаются.</a:t>
            </a:r>
          </a:p>
          <a:p>
            <a:endParaRPr lang="ru-RU" sz="1600" dirty="0"/>
          </a:p>
          <a:p>
            <a:r>
              <a:rPr lang="ru-RU" sz="1600" dirty="0"/>
              <a:t>Анализ не сдавших для предмета: </a:t>
            </a:r>
            <a:r>
              <a:rPr lang="ru-RU" sz="1600" dirty="0" err="1"/>
              <a:t>ТВиМС</a:t>
            </a:r>
            <a:endParaRPr lang="ru-RU" sz="1600" dirty="0"/>
          </a:p>
          <a:p>
            <a:r>
              <a:rPr lang="ru-RU" sz="1600" dirty="0"/>
              <a:t>  План 1:</a:t>
            </a:r>
          </a:p>
          <a:p>
            <a:r>
              <a:rPr lang="ru-RU" sz="1600" dirty="0"/>
              <a:t>    Не сдавших (балл &lt; 0.5): 8 из 108</a:t>
            </a:r>
          </a:p>
          <a:p>
            <a:r>
              <a:rPr lang="ru-RU" sz="1600" dirty="0"/>
              <a:t>    Вероятность не сдать: 0.0741</a:t>
            </a:r>
          </a:p>
          <a:p>
            <a:r>
              <a:rPr lang="ru-RU" sz="1600" dirty="0"/>
              <a:t>  План 2:</a:t>
            </a:r>
          </a:p>
          <a:p>
            <a:r>
              <a:rPr lang="ru-RU" sz="1600" dirty="0"/>
              <a:t>    Не сдавших (балл &lt; 0.5): 38 из 147</a:t>
            </a:r>
          </a:p>
          <a:p>
            <a:r>
              <a:rPr lang="ru-RU" sz="1600" dirty="0"/>
              <a:t>    Вероятность не сдать: 0.2585</a:t>
            </a:r>
          </a:p>
          <a:p>
            <a:r>
              <a:rPr lang="ru-RU" sz="1600" dirty="0"/>
              <a:t>  Z-тест для сравнения вероятностей:</a:t>
            </a:r>
          </a:p>
          <a:p>
            <a:r>
              <a:rPr lang="ru-RU" sz="1600" dirty="0"/>
              <a:t>    Статистика Z: -3.78</a:t>
            </a:r>
          </a:p>
          <a:p>
            <a:r>
              <a:rPr lang="ru-RU" sz="1600" dirty="0"/>
              <a:t>    p-значение: 0.0002</a:t>
            </a:r>
          </a:p>
          <a:p>
            <a:r>
              <a:rPr lang="ru-RU" sz="1600" dirty="0"/>
              <a:t>    Результат: p &lt; 0.05, отвергаем H₀. Вероятности не сдать для Плана 1 и Плана 2 различаются.</a:t>
            </a:r>
          </a:p>
        </p:txBody>
      </p:sp>
      <p:sp>
        <p:nvSpPr>
          <p:cNvPr id="3" name="Прямоугольник 2">
            <a:extLst>
              <a:ext uri="{FF2B5EF4-FFF2-40B4-BE49-F238E27FC236}">
                <a16:creationId xmlns:a16="http://schemas.microsoft.com/office/drawing/2014/main" id="{E135A4CC-3833-44A2-BC3F-B7D225C76E06}"/>
              </a:ext>
            </a:extLst>
          </p:cNvPr>
          <p:cNvSpPr/>
          <p:nvPr/>
        </p:nvSpPr>
        <p:spPr>
          <a:xfrm>
            <a:off x="6096000" y="305068"/>
            <a:ext cx="6096000" cy="3046988"/>
          </a:xfrm>
          <a:prstGeom prst="rect">
            <a:avLst/>
          </a:prstGeom>
        </p:spPr>
        <p:txBody>
          <a:bodyPr>
            <a:spAutoFit/>
          </a:bodyPr>
          <a:lstStyle/>
          <a:p>
            <a:r>
              <a:rPr lang="ru-RU" sz="1600" dirty="0"/>
              <a:t>Анализ не сдавших для предмета: ДУ</a:t>
            </a:r>
          </a:p>
          <a:p>
            <a:r>
              <a:rPr lang="ru-RU" sz="1600" dirty="0"/>
              <a:t>  План 1:</a:t>
            </a:r>
          </a:p>
          <a:p>
            <a:r>
              <a:rPr lang="ru-RU" sz="1600" dirty="0"/>
              <a:t>    Не сдавших (балл &lt; 0.5): 20 из 137</a:t>
            </a:r>
          </a:p>
          <a:p>
            <a:r>
              <a:rPr lang="ru-RU" sz="1600" dirty="0"/>
              <a:t>    Вероятность не сдать: 0.1460</a:t>
            </a:r>
          </a:p>
          <a:p>
            <a:r>
              <a:rPr lang="ru-RU" sz="1600" dirty="0"/>
              <a:t>  План 2:</a:t>
            </a:r>
          </a:p>
          <a:p>
            <a:r>
              <a:rPr lang="ru-RU" sz="1600" dirty="0"/>
              <a:t>    Не сдавших (балл &lt; 0.5): 4 из 142</a:t>
            </a:r>
          </a:p>
          <a:p>
            <a:r>
              <a:rPr lang="ru-RU" sz="1600" dirty="0"/>
              <a:t>    Вероятность не сдать: 0.0282</a:t>
            </a:r>
          </a:p>
          <a:p>
            <a:r>
              <a:rPr lang="ru-RU" sz="1600" dirty="0"/>
              <a:t>  Z-тест для сравнения вероятностей:</a:t>
            </a:r>
          </a:p>
          <a:p>
            <a:r>
              <a:rPr lang="ru-RU" sz="1600" dirty="0"/>
              <a:t>    Статистика Z: 3.51</a:t>
            </a:r>
          </a:p>
          <a:p>
            <a:r>
              <a:rPr lang="ru-RU" sz="1600" dirty="0"/>
              <a:t>    p-значение: 0.0005</a:t>
            </a:r>
          </a:p>
          <a:p>
            <a:r>
              <a:rPr lang="ru-RU" sz="1600" dirty="0"/>
              <a:t>    Результат: p &lt; 0.05, отвергаем H₀. Вероятности не сдать для Плана 1 и Плана 2 различаются.</a:t>
            </a:r>
          </a:p>
        </p:txBody>
      </p:sp>
    </p:spTree>
    <p:extLst>
      <p:ext uri="{BB962C8B-B14F-4D97-AF65-F5344CB8AC3E}">
        <p14:creationId xmlns:p14="http://schemas.microsoft.com/office/powerpoint/2010/main" val="4241470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0384462A-38DA-4E76-AAC0-43FB28D492CA}"/>
              </a:ext>
            </a:extLst>
          </p:cNvPr>
          <p:cNvSpPr/>
          <p:nvPr/>
        </p:nvSpPr>
        <p:spPr>
          <a:xfrm>
            <a:off x="109492" y="192220"/>
            <a:ext cx="6096000" cy="6247864"/>
          </a:xfrm>
          <a:prstGeom prst="rect">
            <a:avLst/>
          </a:prstGeom>
        </p:spPr>
        <p:txBody>
          <a:bodyPr>
            <a:spAutoFit/>
          </a:bodyPr>
          <a:lstStyle/>
          <a:p>
            <a:r>
              <a:rPr lang="ru-RU" sz="1600" dirty="0"/>
              <a:t>ДМ</a:t>
            </a:r>
          </a:p>
          <a:p>
            <a:r>
              <a:rPr lang="ru-RU" sz="1600" dirty="0"/>
              <a:t>  План 1:</a:t>
            </a:r>
          </a:p>
          <a:p>
            <a:r>
              <a:rPr lang="ru-RU" sz="1600" dirty="0"/>
              <a:t>    Хорошистов и отличников (балл &gt;= 0.7): 39 из 108</a:t>
            </a:r>
          </a:p>
          <a:p>
            <a:r>
              <a:rPr lang="ru-RU" sz="1600" dirty="0"/>
              <a:t>    Вероятность получить хорошую оценку: 0.3611</a:t>
            </a:r>
          </a:p>
          <a:p>
            <a:r>
              <a:rPr lang="ru-RU" sz="1600" dirty="0"/>
              <a:t>  План 2:</a:t>
            </a:r>
          </a:p>
          <a:p>
            <a:r>
              <a:rPr lang="ru-RU" sz="1600" dirty="0"/>
              <a:t>    Хорошистов и отличников (балл &gt;= 0.7): 57 из 140</a:t>
            </a:r>
          </a:p>
          <a:p>
            <a:r>
              <a:rPr lang="ru-RU" sz="1600" dirty="0"/>
              <a:t>    Вероятность получить хорошую оценку: 0.4071</a:t>
            </a:r>
          </a:p>
          <a:p>
            <a:r>
              <a:rPr lang="ru-RU" sz="1600" dirty="0"/>
              <a:t>  Z-тест для сравнения вероятностей:</a:t>
            </a:r>
          </a:p>
          <a:p>
            <a:r>
              <a:rPr lang="ru-RU" sz="1600" dirty="0"/>
              <a:t>    Статистика Z: -0.74</a:t>
            </a:r>
          </a:p>
          <a:p>
            <a:r>
              <a:rPr lang="ru-RU" sz="1600" dirty="0"/>
              <a:t>    p-значение: 0.4606</a:t>
            </a:r>
          </a:p>
          <a:p>
            <a:r>
              <a:rPr lang="ru-RU" sz="1600" dirty="0"/>
              <a:t>    Результат: p &gt;= 0.05, не отвергаем H₀. Нет достаточных оснований считать, что вероятности получить хорошую оценку различаются.</a:t>
            </a:r>
          </a:p>
          <a:p>
            <a:endParaRPr lang="ru-RU" sz="1600" dirty="0"/>
          </a:p>
          <a:p>
            <a:r>
              <a:rPr lang="ru-RU" sz="1600" dirty="0" err="1"/>
              <a:t>ТВиМС</a:t>
            </a:r>
            <a:endParaRPr lang="ru-RU" sz="1600" dirty="0"/>
          </a:p>
          <a:p>
            <a:r>
              <a:rPr lang="ru-RU" sz="1600" dirty="0"/>
              <a:t>  План 1:</a:t>
            </a:r>
          </a:p>
          <a:p>
            <a:r>
              <a:rPr lang="ru-RU" sz="1600" dirty="0"/>
              <a:t>    Хорошистов и отличников (балл &gt;= 0.7): 48 из 108</a:t>
            </a:r>
          </a:p>
          <a:p>
            <a:r>
              <a:rPr lang="ru-RU" sz="1600" dirty="0"/>
              <a:t>    Вероятность получить хорошую оценку: 0.4444</a:t>
            </a:r>
          </a:p>
          <a:p>
            <a:r>
              <a:rPr lang="ru-RU" sz="1600" dirty="0"/>
              <a:t>  План 2:</a:t>
            </a:r>
          </a:p>
          <a:p>
            <a:r>
              <a:rPr lang="ru-RU" sz="1600" dirty="0"/>
              <a:t>    Хорошистов и отличников (балл &gt;= 0.7): 54 из 147</a:t>
            </a:r>
          </a:p>
          <a:p>
            <a:r>
              <a:rPr lang="ru-RU" sz="1600" dirty="0"/>
              <a:t>    Вероятность получить хорошую оценку: 0.3673</a:t>
            </a:r>
          </a:p>
          <a:p>
            <a:r>
              <a:rPr lang="ru-RU" sz="1600" dirty="0"/>
              <a:t>  Z-тест для сравнения вероятностей:</a:t>
            </a:r>
          </a:p>
          <a:p>
            <a:r>
              <a:rPr lang="ru-RU" sz="1600" dirty="0"/>
              <a:t>    Статистика Z: 1.24</a:t>
            </a:r>
          </a:p>
          <a:p>
            <a:r>
              <a:rPr lang="ru-RU" sz="1600" dirty="0"/>
              <a:t>    p-значение: 0.2143</a:t>
            </a:r>
          </a:p>
          <a:p>
            <a:r>
              <a:rPr lang="ru-RU" sz="1600" dirty="0"/>
              <a:t>    Результат: p &gt;= 0.05, не отвергаем H₀. Нет достаточных оснований считать, что вероятности получить хорошую оценку различаются.</a:t>
            </a:r>
          </a:p>
        </p:txBody>
      </p:sp>
      <p:sp>
        <p:nvSpPr>
          <p:cNvPr id="4" name="Прямоугольник 3">
            <a:extLst>
              <a:ext uri="{FF2B5EF4-FFF2-40B4-BE49-F238E27FC236}">
                <a16:creationId xmlns:a16="http://schemas.microsoft.com/office/drawing/2014/main" id="{8C6DEE23-8ACC-40E2-9AAA-5BFD60C04532}"/>
              </a:ext>
            </a:extLst>
          </p:cNvPr>
          <p:cNvSpPr/>
          <p:nvPr/>
        </p:nvSpPr>
        <p:spPr>
          <a:xfrm>
            <a:off x="6096000" y="192220"/>
            <a:ext cx="6096000" cy="3046988"/>
          </a:xfrm>
          <a:prstGeom prst="rect">
            <a:avLst/>
          </a:prstGeom>
        </p:spPr>
        <p:txBody>
          <a:bodyPr>
            <a:spAutoFit/>
          </a:bodyPr>
          <a:lstStyle/>
          <a:p>
            <a:r>
              <a:rPr lang="ru-RU" sz="1600" dirty="0"/>
              <a:t>ДУ</a:t>
            </a:r>
          </a:p>
          <a:p>
            <a:r>
              <a:rPr lang="ru-RU" sz="1600" dirty="0"/>
              <a:t>  План 1:</a:t>
            </a:r>
          </a:p>
          <a:p>
            <a:r>
              <a:rPr lang="ru-RU" sz="1600" dirty="0"/>
              <a:t>    Хорошистов и отличников (балл &gt;= 0.7): 83 из 137</a:t>
            </a:r>
          </a:p>
          <a:p>
            <a:r>
              <a:rPr lang="ru-RU" sz="1600" dirty="0"/>
              <a:t>    Вероятность получить хорошую оценку: 0.6058</a:t>
            </a:r>
          </a:p>
          <a:p>
            <a:r>
              <a:rPr lang="ru-RU" sz="1600" dirty="0"/>
              <a:t>  План 2:</a:t>
            </a:r>
          </a:p>
          <a:p>
            <a:r>
              <a:rPr lang="ru-RU" sz="1600" dirty="0"/>
              <a:t>    Хорошистов и отличников (балл &gt;= 0.7): 94 из 142</a:t>
            </a:r>
          </a:p>
          <a:p>
            <a:r>
              <a:rPr lang="ru-RU" sz="1600" dirty="0"/>
              <a:t>    Вероятность получить хорошую оценку: 0.6620</a:t>
            </a:r>
          </a:p>
          <a:p>
            <a:r>
              <a:rPr lang="ru-RU" sz="1600" dirty="0"/>
              <a:t>  Z-тест для сравнения вероятностей:</a:t>
            </a:r>
          </a:p>
          <a:p>
            <a:r>
              <a:rPr lang="ru-RU" sz="1600" dirty="0"/>
              <a:t>    Статистика Z: -0.97</a:t>
            </a:r>
          </a:p>
          <a:p>
            <a:r>
              <a:rPr lang="ru-RU" sz="1600" dirty="0"/>
              <a:t>    p-значение: 0.3304</a:t>
            </a:r>
          </a:p>
          <a:p>
            <a:r>
              <a:rPr lang="ru-RU" sz="1600" dirty="0"/>
              <a:t>    Результат: p &gt;= 0.05, не отвергаем H₀. Нет достаточных оснований считать, что вероятности получить хорошую оценку различаются.</a:t>
            </a:r>
          </a:p>
        </p:txBody>
      </p:sp>
      <p:sp>
        <p:nvSpPr>
          <p:cNvPr id="5" name="TextBox 4">
            <a:extLst>
              <a:ext uri="{FF2B5EF4-FFF2-40B4-BE49-F238E27FC236}">
                <a16:creationId xmlns:a16="http://schemas.microsoft.com/office/drawing/2014/main" id="{1A8BE4A6-7CE7-4D67-8464-F24A8B1CF49A}"/>
              </a:ext>
            </a:extLst>
          </p:cNvPr>
          <p:cNvSpPr txBox="1"/>
          <p:nvPr/>
        </p:nvSpPr>
        <p:spPr>
          <a:xfrm>
            <a:off x="6205492" y="3788070"/>
            <a:ext cx="6119812" cy="2800767"/>
          </a:xfrm>
          <a:prstGeom prst="rect">
            <a:avLst/>
          </a:prstGeom>
          <a:noFill/>
        </p:spPr>
        <p:txBody>
          <a:bodyPr wrap="square">
            <a:spAutoFit/>
          </a:bodyPr>
          <a:lstStyle/>
          <a:p>
            <a:r>
              <a:rPr lang="ru-RU" sz="1600" dirty="0"/>
              <a:t>p = 0.3901175238159059</a:t>
            </a:r>
          </a:p>
          <a:p>
            <a:r>
              <a:rPr lang="ru-RU" sz="1600" dirty="0"/>
              <a:t>Для предмета ДМ Дисперсии не различаются значимо </a:t>
            </a:r>
          </a:p>
          <a:p>
            <a:r>
              <a:rPr lang="ru-RU" sz="1600" dirty="0"/>
              <a:t>(p = 0.3901175238159059 &gt; 0.05)</a:t>
            </a:r>
          </a:p>
          <a:p>
            <a:endParaRPr lang="ru-RU" sz="1600" dirty="0"/>
          </a:p>
          <a:p>
            <a:r>
              <a:rPr lang="ru-RU" sz="1600" dirty="0"/>
              <a:t>p = 0.008528953343446131</a:t>
            </a:r>
          </a:p>
          <a:p>
            <a:r>
              <a:rPr lang="ru-RU" sz="1600" dirty="0"/>
              <a:t>Для предмета </a:t>
            </a:r>
            <a:r>
              <a:rPr lang="ru-RU" sz="1600" dirty="0" err="1"/>
              <a:t>ТВиМС</a:t>
            </a:r>
            <a:r>
              <a:rPr lang="ru-RU" sz="1600" dirty="0"/>
              <a:t> Дисперсии значимо различаются </a:t>
            </a:r>
          </a:p>
          <a:p>
            <a:r>
              <a:rPr lang="ru-RU" sz="1600" dirty="0"/>
              <a:t>(p = 0.008528953343446131 &lt; 0.05)</a:t>
            </a:r>
          </a:p>
          <a:p>
            <a:endParaRPr lang="ru-RU" sz="1600" dirty="0"/>
          </a:p>
          <a:p>
            <a:r>
              <a:rPr lang="ru-RU" sz="1600" dirty="0"/>
              <a:t>p = 0.004321134493315467</a:t>
            </a:r>
          </a:p>
          <a:p>
            <a:r>
              <a:rPr lang="ru-RU" sz="1600" dirty="0"/>
              <a:t>Для предмета ДУ Дисперсии значимо различаются </a:t>
            </a:r>
          </a:p>
          <a:p>
            <a:r>
              <a:rPr lang="ru-RU" sz="1600" dirty="0"/>
              <a:t>(p = 0.004321134493315467 &lt; 0.05)</a:t>
            </a:r>
          </a:p>
        </p:txBody>
      </p:sp>
      <p:sp>
        <p:nvSpPr>
          <p:cNvPr id="6" name="TextBox 5">
            <a:extLst>
              <a:ext uri="{FF2B5EF4-FFF2-40B4-BE49-F238E27FC236}">
                <a16:creationId xmlns:a16="http://schemas.microsoft.com/office/drawing/2014/main" id="{F1CA9169-8EFA-4E9A-B343-0F9C9A0377B5}"/>
              </a:ext>
            </a:extLst>
          </p:cNvPr>
          <p:cNvSpPr txBox="1"/>
          <p:nvPr/>
        </p:nvSpPr>
        <p:spPr>
          <a:xfrm>
            <a:off x="6205492" y="3449516"/>
            <a:ext cx="2615588" cy="338554"/>
          </a:xfrm>
          <a:prstGeom prst="rect">
            <a:avLst/>
          </a:prstGeom>
          <a:noFill/>
        </p:spPr>
        <p:txBody>
          <a:bodyPr wrap="none" rtlCol="0">
            <a:spAutoFit/>
          </a:bodyPr>
          <a:lstStyle/>
          <a:p>
            <a:r>
              <a:rPr lang="ru-RU" sz="1600" dirty="0"/>
              <a:t>Тест </a:t>
            </a:r>
            <a:r>
              <a:rPr lang="ru-RU" sz="1600" dirty="0" err="1"/>
              <a:t>Левена</a:t>
            </a:r>
            <a:r>
              <a:rPr lang="ru-RU" sz="1600" dirty="0"/>
              <a:t> для дисперсий:</a:t>
            </a:r>
          </a:p>
        </p:txBody>
      </p:sp>
    </p:spTree>
    <p:extLst>
      <p:ext uri="{BB962C8B-B14F-4D97-AF65-F5344CB8AC3E}">
        <p14:creationId xmlns:p14="http://schemas.microsoft.com/office/powerpoint/2010/main" val="525233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96EC9029-4CC3-4854-9B21-5E602BB733ED}"/>
              </a:ext>
            </a:extLst>
          </p:cNvPr>
          <p:cNvSpPr/>
          <p:nvPr/>
        </p:nvSpPr>
        <p:spPr>
          <a:xfrm>
            <a:off x="183102" y="750643"/>
            <a:ext cx="11646948" cy="2492990"/>
          </a:xfrm>
          <a:prstGeom prst="rect">
            <a:avLst/>
          </a:prstGeom>
        </p:spPr>
        <p:txBody>
          <a:bodyPr wrap="square">
            <a:spAutoFit/>
          </a:bodyPr>
          <a:lstStyle/>
          <a:p>
            <a:r>
              <a:rPr lang="ru-RU" sz="2400" b="1" dirty="0"/>
              <a:t>Вывод по дисциплинам ДМ, ДУ, </a:t>
            </a:r>
            <a:r>
              <a:rPr lang="ru-RU" sz="2400" b="1" dirty="0" err="1"/>
              <a:t>ТВиМС</a:t>
            </a:r>
            <a:r>
              <a:rPr lang="ru-RU" sz="2400" b="1" dirty="0"/>
              <a:t>:</a:t>
            </a:r>
          </a:p>
          <a:p>
            <a:endParaRPr lang="ru-RU" sz="2400" b="1" dirty="0"/>
          </a:p>
          <a:p>
            <a:r>
              <a:rPr lang="ru-RU" b="1" dirty="0"/>
              <a:t>ДМ: </a:t>
            </a:r>
            <a:r>
              <a:rPr lang="ru-RU" dirty="0"/>
              <a:t>является новым предметом на первом курсе. Анализ показал, что математическое ожидание оценок даже меньше среди обучающихся по первому плану! Студенты, обучающиеся по первому плану выигрывают по количеству по количеству получивших неудовлетворительную оценку, но проигрывают по количеству хорошистов и отличников, хотя статистически значимых различий между соответствующими вероятностями нет. Это очень интересный результат, подобная ситуация еще будет встречаться. В целом можно сделать вывод, что перенос ДМ на семестр раньше не повлиял сильно на усвоение учениками материала</a:t>
            </a:r>
          </a:p>
        </p:txBody>
      </p:sp>
      <p:sp>
        <p:nvSpPr>
          <p:cNvPr id="4" name="Прямоугольник 3">
            <a:extLst>
              <a:ext uri="{FF2B5EF4-FFF2-40B4-BE49-F238E27FC236}">
                <a16:creationId xmlns:a16="http://schemas.microsoft.com/office/drawing/2014/main" id="{E46EE34E-1AB5-45EA-A6F6-0D621F5ED789}"/>
              </a:ext>
            </a:extLst>
          </p:cNvPr>
          <p:cNvSpPr/>
          <p:nvPr/>
        </p:nvSpPr>
        <p:spPr>
          <a:xfrm>
            <a:off x="230450" y="3331501"/>
            <a:ext cx="11552252" cy="2031325"/>
          </a:xfrm>
          <a:prstGeom prst="rect">
            <a:avLst/>
          </a:prstGeom>
        </p:spPr>
        <p:txBody>
          <a:bodyPr wrap="square">
            <a:spAutoFit/>
          </a:bodyPr>
          <a:lstStyle/>
          <a:p>
            <a:r>
              <a:rPr lang="ru-RU" b="1" dirty="0" err="1"/>
              <a:t>ТВиМС</a:t>
            </a:r>
            <a:r>
              <a:rPr lang="ru-RU" b="1" dirty="0"/>
              <a:t>: </a:t>
            </a:r>
            <a:r>
              <a:rPr lang="ru-RU" dirty="0"/>
              <a:t>еще один предмет, которого коснулись изменения. Математическое ожидание баллов на 7 баллов больше среди обучающихся по первому плану, но этот результат оказался незначим. Однако среди обучающихся по плану 2 гораздо больше не сдавших, чем среди обучающихся по плану 1. Выигрывает план 2 и по количеству хорошистов и отличников. В целом можно, что перенос предмета на семестр ранее сказался на студентах негативно</a:t>
            </a:r>
          </a:p>
          <a:p>
            <a:endParaRPr lang="ru-RU" dirty="0"/>
          </a:p>
          <a:p>
            <a:r>
              <a:rPr lang="ru-RU" b="1" dirty="0"/>
              <a:t>ДУ: </a:t>
            </a:r>
            <a:r>
              <a:rPr lang="ru-RU" dirty="0"/>
              <a:t>Математическое ожидание оценок значимо различается в пользу плана 2 и в остальных тестах план 2 немного превосходит план 1.</a:t>
            </a:r>
          </a:p>
        </p:txBody>
      </p:sp>
    </p:spTree>
    <p:extLst>
      <p:ext uri="{BB962C8B-B14F-4D97-AF65-F5344CB8AC3E}">
        <p14:creationId xmlns:p14="http://schemas.microsoft.com/office/powerpoint/2010/main" val="2889399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1331FA-9463-4601-94AB-51E590531C4F}"/>
              </a:ext>
            </a:extLst>
          </p:cNvPr>
          <p:cNvSpPr txBox="1"/>
          <p:nvPr/>
        </p:nvSpPr>
        <p:spPr>
          <a:xfrm>
            <a:off x="3194180" y="2844225"/>
            <a:ext cx="5803640" cy="584775"/>
          </a:xfrm>
          <a:prstGeom prst="rect">
            <a:avLst/>
          </a:prstGeom>
          <a:noFill/>
        </p:spPr>
        <p:txBody>
          <a:bodyPr wrap="none" rtlCol="0">
            <a:spAutoFit/>
          </a:bodyPr>
          <a:lstStyle/>
          <a:p>
            <a:r>
              <a:rPr lang="ru-RU" sz="3200" b="1" dirty="0">
                <a:latin typeface="Times New Roman" panose="02020603050405020304" pitchFamily="18" charset="0"/>
                <a:cs typeface="Times New Roman" panose="02020603050405020304" pitchFamily="18" charset="0"/>
              </a:rPr>
              <a:t>Анализ предметов МА, СРМА</a:t>
            </a:r>
          </a:p>
        </p:txBody>
      </p:sp>
    </p:spTree>
    <p:extLst>
      <p:ext uri="{BB962C8B-B14F-4D97-AF65-F5344CB8AC3E}">
        <p14:creationId xmlns:p14="http://schemas.microsoft.com/office/powerpoint/2010/main" val="3845287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19AB5720-024C-4390-8AC9-310A71314CF8}"/>
              </a:ext>
            </a:extLst>
          </p:cNvPr>
          <p:cNvPicPr>
            <a:picLocks noChangeAspect="1"/>
          </p:cNvPicPr>
          <p:nvPr/>
        </p:nvPicPr>
        <p:blipFill>
          <a:blip r:embed="rId2"/>
          <a:stretch>
            <a:fillRect/>
          </a:stretch>
        </p:blipFill>
        <p:spPr>
          <a:xfrm>
            <a:off x="5133975" y="1"/>
            <a:ext cx="6835581" cy="3352800"/>
          </a:xfrm>
          <a:prstGeom prst="rect">
            <a:avLst/>
          </a:prstGeom>
        </p:spPr>
      </p:pic>
      <p:pic>
        <p:nvPicPr>
          <p:cNvPr id="4" name="Рисунок 3">
            <a:extLst>
              <a:ext uri="{FF2B5EF4-FFF2-40B4-BE49-F238E27FC236}">
                <a16:creationId xmlns:a16="http://schemas.microsoft.com/office/drawing/2014/main" id="{6C3536BB-CE56-465F-B226-A15AF76F34E6}"/>
              </a:ext>
            </a:extLst>
          </p:cNvPr>
          <p:cNvPicPr>
            <a:picLocks noChangeAspect="1"/>
          </p:cNvPicPr>
          <p:nvPr/>
        </p:nvPicPr>
        <p:blipFill>
          <a:blip r:embed="rId3"/>
          <a:stretch>
            <a:fillRect/>
          </a:stretch>
        </p:blipFill>
        <p:spPr>
          <a:xfrm>
            <a:off x="5133975" y="3429001"/>
            <a:ext cx="6835581" cy="3292030"/>
          </a:xfrm>
          <a:prstGeom prst="rect">
            <a:avLst/>
          </a:prstGeom>
        </p:spPr>
      </p:pic>
      <p:sp>
        <p:nvSpPr>
          <p:cNvPr id="6" name="TextBox 5">
            <a:extLst>
              <a:ext uri="{FF2B5EF4-FFF2-40B4-BE49-F238E27FC236}">
                <a16:creationId xmlns:a16="http://schemas.microsoft.com/office/drawing/2014/main" id="{B6CB8C4A-9DC6-4C64-B6B6-C3A8F20B0058}"/>
              </a:ext>
            </a:extLst>
          </p:cNvPr>
          <p:cNvSpPr txBox="1"/>
          <p:nvPr/>
        </p:nvSpPr>
        <p:spPr>
          <a:xfrm>
            <a:off x="533400" y="383739"/>
            <a:ext cx="6096000" cy="2862322"/>
          </a:xfrm>
          <a:prstGeom prst="rect">
            <a:avLst/>
          </a:prstGeom>
          <a:noFill/>
        </p:spPr>
        <p:txBody>
          <a:bodyPr wrap="square">
            <a:spAutoFit/>
          </a:bodyPr>
          <a:lstStyle/>
          <a:p>
            <a:r>
              <a:rPr lang="ru-RU" b="1" dirty="0"/>
              <a:t>Очистка данных для предмета: МА</a:t>
            </a:r>
          </a:p>
          <a:p>
            <a:endParaRPr lang="ru-RU" dirty="0"/>
          </a:p>
          <a:p>
            <a:r>
              <a:rPr lang="ru-RU" dirty="0"/>
              <a:t>План 1:</a:t>
            </a:r>
          </a:p>
          <a:p>
            <a:r>
              <a:rPr lang="ru-RU" dirty="0"/>
              <a:t>Удалено выбросов: 20</a:t>
            </a:r>
          </a:p>
          <a:p>
            <a:r>
              <a:rPr lang="ru-RU" dirty="0"/>
              <a:t>Осталось точек: 123</a:t>
            </a:r>
          </a:p>
          <a:p>
            <a:endParaRPr lang="ru-RU" dirty="0"/>
          </a:p>
          <a:p>
            <a:endParaRPr lang="ru-RU" dirty="0"/>
          </a:p>
          <a:p>
            <a:r>
              <a:rPr lang="ru-RU" dirty="0"/>
              <a:t>План 2:</a:t>
            </a:r>
          </a:p>
          <a:p>
            <a:r>
              <a:rPr lang="ru-RU" dirty="0"/>
              <a:t>Удалено выбросов: 6</a:t>
            </a:r>
          </a:p>
          <a:p>
            <a:r>
              <a:rPr lang="ru-RU" dirty="0"/>
              <a:t>Осталось точек: 137</a:t>
            </a:r>
          </a:p>
        </p:txBody>
      </p:sp>
    </p:spTree>
    <p:extLst>
      <p:ext uri="{BB962C8B-B14F-4D97-AF65-F5344CB8AC3E}">
        <p14:creationId xmlns:p14="http://schemas.microsoft.com/office/powerpoint/2010/main" val="1239778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B16F925A-13B4-4113-8F62-7840D48E8FB9}"/>
              </a:ext>
            </a:extLst>
          </p:cNvPr>
          <p:cNvPicPr>
            <a:picLocks noChangeAspect="1"/>
          </p:cNvPicPr>
          <p:nvPr/>
        </p:nvPicPr>
        <p:blipFill>
          <a:blip r:embed="rId2"/>
          <a:stretch>
            <a:fillRect/>
          </a:stretch>
        </p:blipFill>
        <p:spPr>
          <a:xfrm>
            <a:off x="5362576" y="0"/>
            <a:ext cx="6515100" cy="3429000"/>
          </a:xfrm>
          <a:prstGeom prst="rect">
            <a:avLst/>
          </a:prstGeom>
        </p:spPr>
      </p:pic>
      <p:pic>
        <p:nvPicPr>
          <p:cNvPr id="3" name="Рисунок 2">
            <a:extLst>
              <a:ext uri="{FF2B5EF4-FFF2-40B4-BE49-F238E27FC236}">
                <a16:creationId xmlns:a16="http://schemas.microsoft.com/office/drawing/2014/main" id="{4826EE59-5203-4322-94FE-ACD717661FFA}"/>
              </a:ext>
            </a:extLst>
          </p:cNvPr>
          <p:cNvPicPr>
            <a:picLocks noChangeAspect="1"/>
          </p:cNvPicPr>
          <p:nvPr/>
        </p:nvPicPr>
        <p:blipFill>
          <a:blip r:embed="rId3"/>
          <a:stretch>
            <a:fillRect/>
          </a:stretch>
        </p:blipFill>
        <p:spPr>
          <a:xfrm>
            <a:off x="5362576" y="3429000"/>
            <a:ext cx="6515100" cy="3429000"/>
          </a:xfrm>
          <a:prstGeom prst="rect">
            <a:avLst/>
          </a:prstGeom>
        </p:spPr>
      </p:pic>
      <p:sp>
        <p:nvSpPr>
          <p:cNvPr id="5" name="TextBox 4">
            <a:extLst>
              <a:ext uri="{FF2B5EF4-FFF2-40B4-BE49-F238E27FC236}">
                <a16:creationId xmlns:a16="http://schemas.microsoft.com/office/drawing/2014/main" id="{B0091EE8-426C-48C3-864B-4F26A48C80E9}"/>
              </a:ext>
            </a:extLst>
          </p:cNvPr>
          <p:cNvSpPr txBox="1"/>
          <p:nvPr/>
        </p:nvSpPr>
        <p:spPr>
          <a:xfrm>
            <a:off x="314324" y="289679"/>
            <a:ext cx="6096000" cy="3139321"/>
          </a:xfrm>
          <a:prstGeom prst="rect">
            <a:avLst/>
          </a:prstGeom>
          <a:noFill/>
        </p:spPr>
        <p:txBody>
          <a:bodyPr wrap="square">
            <a:spAutoFit/>
          </a:bodyPr>
          <a:lstStyle/>
          <a:p>
            <a:r>
              <a:rPr lang="ru-RU" b="1" dirty="0"/>
              <a:t>Очистка данных для предмета: СРМА</a:t>
            </a:r>
          </a:p>
          <a:p>
            <a:endParaRPr lang="ru-RU" b="1" dirty="0"/>
          </a:p>
          <a:p>
            <a:endParaRPr lang="ru-RU" b="1" dirty="0"/>
          </a:p>
          <a:p>
            <a:r>
              <a:rPr lang="ru-RU" dirty="0"/>
              <a:t>План 1:</a:t>
            </a:r>
          </a:p>
          <a:p>
            <a:r>
              <a:rPr lang="ru-RU" dirty="0"/>
              <a:t>Удалено выбросов: 3</a:t>
            </a:r>
          </a:p>
          <a:p>
            <a:r>
              <a:rPr lang="ru-RU" dirty="0"/>
              <a:t>Осталось точек: 77</a:t>
            </a:r>
          </a:p>
          <a:p>
            <a:endParaRPr lang="ru-RU" dirty="0"/>
          </a:p>
          <a:p>
            <a:endParaRPr lang="ru-RU" dirty="0"/>
          </a:p>
          <a:p>
            <a:r>
              <a:rPr lang="ru-RU" dirty="0"/>
              <a:t>План 2:</a:t>
            </a:r>
          </a:p>
          <a:p>
            <a:r>
              <a:rPr lang="ru-RU" dirty="0"/>
              <a:t>Удалено выбросов: 10</a:t>
            </a:r>
          </a:p>
          <a:p>
            <a:r>
              <a:rPr lang="ru-RU" dirty="0"/>
              <a:t>Осталось точек: 144</a:t>
            </a:r>
          </a:p>
        </p:txBody>
      </p:sp>
    </p:spTree>
    <p:extLst>
      <p:ext uri="{BB962C8B-B14F-4D97-AF65-F5344CB8AC3E}">
        <p14:creationId xmlns:p14="http://schemas.microsoft.com/office/powerpoint/2010/main" val="4171654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B88809-B706-456D-ABA0-C6F6244B184E}"/>
              </a:ext>
            </a:extLst>
          </p:cNvPr>
          <p:cNvSpPr txBox="1"/>
          <p:nvPr/>
        </p:nvSpPr>
        <p:spPr>
          <a:xfrm>
            <a:off x="266700" y="225147"/>
            <a:ext cx="7524750" cy="4247317"/>
          </a:xfrm>
          <a:prstGeom prst="rect">
            <a:avLst/>
          </a:prstGeom>
          <a:noFill/>
        </p:spPr>
        <p:txBody>
          <a:bodyPr wrap="square">
            <a:spAutoFit/>
          </a:bodyPr>
          <a:lstStyle/>
          <a:p>
            <a:r>
              <a:rPr lang="ru-RU" b="1" dirty="0"/>
              <a:t>Статистические характеристики:</a:t>
            </a:r>
          </a:p>
          <a:p>
            <a:endParaRPr lang="ru-RU" dirty="0"/>
          </a:p>
          <a:p>
            <a:r>
              <a:rPr lang="ru-RU" dirty="0"/>
              <a:t>Предмет: МА</a:t>
            </a:r>
          </a:p>
          <a:p>
            <a:r>
              <a:rPr lang="ru-RU" dirty="0"/>
              <a:t>План 1:</a:t>
            </a:r>
          </a:p>
          <a:p>
            <a:r>
              <a:rPr lang="ru-RU" dirty="0"/>
              <a:t>  Медиана: 0.54</a:t>
            </a:r>
          </a:p>
          <a:p>
            <a:r>
              <a:rPr lang="ru-RU" dirty="0"/>
              <a:t>  Дисперсия: 0.05</a:t>
            </a:r>
          </a:p>
          <a:p>
            <a:r>
              <a:rPr lang="ru-RU" dirty="0"/>
              <a:t>  Коэффициент асимметрии: -0.34</a:t>
            </a:r>
          </a:p>
          <a:p>
            <a:r>
              <a:rPr lang="ru-RU" dirty="0"/>
              <a:t>  Математическое ожидание: 0.54</a:t>
            </a:r>
          </a:p>
          <a:p>
            <a:r>
              <a:rPr lang="ru-RU" dirty="0"/>
              <a:t>План 2:</a:t>
            </a:r>
          </a:p>
          <a:p>
            <a:r>
              <a:rPr lang="ru-RU" dirty="0"/>
              <a:t>  Медиана: 0.53</a:t>
            </a:r>
          </a:p>
          <a:p>
            <a:r>
              <a:rPr lang="ru-RU" dirty="0"/>
              <a:t>  Дисперсия: 0.06</a:t>
            </a:r>
          </a:p>
          <a:p>
            <a:r>
              <a:rPr lang="ru-RU" dirty="0"/>
              <a:t>  Коэффициент асимметрии: 0.01</a:t>
            </a:r>
          </a:p>
          <a:p>
            <a:r>
              <a:rPr lang="ru-RU" dirty="0"/>
              <a:t>  Математическое ожидание: 0.49</a:t>
            </a:r>
          </a:p>
          <a:p>
            <a:endParaRPr lang="ru-RU" dirty="0"/>
          </a:p>
          <a:p>
            <a:endParaRPr lang="ru-RU" dirty="0"/>
          </a:p>
        </p:txBody>
      </p:sp>
      <p:sp>
        <p:nvSpPr>
          <p:cNvPr id="5" name="TextBox 4">
            <a:extLst>
              <a:ext uri="{FF2B5EF4-FFF2-40B4-BE49-F238E27FC236}">
                <a16:creationId xmlns:a16="http://schemas.microsoft.com/office/drawing/2014/main" id="{CEC51DE7-39F6-408F-B326-B940CB236502}"/>
              </a:ext>
            </a:extLst>
          </p:cNvPr>
          <p:cNvSpPr txBox="1"/>
          <p:nvPr/>
        </p:nvSpPr>
        <p:spPr>
          <a:xfrm>
            <a:off x="6176963" y="656600"/>
            <a:ext cx="6096000" cy="3139321"/>
          </a:xfrm>
          <a:prstGeom prst="rect">
            <a:avLst/>
          </a:prstGeom>
          <a:noFill/>
        </p:spPr>
        <p:txBody>
          <a:bodyPr wrap="square">
            <a:spAutoFit/>
          </a:bodyPr>
          <a:lstStyle/>
          <a:p>
            <a:r>
              <a:rPr lang="ru-RU" dirty="0"/>
              <a:t>Предмет: СРМА</a:t>
            </a:r>
          </a:p>
          <a:p>
            <a:r>
              <a:rPr lang="ru-RU" dirty="0"/>
              <a:t>План 1:</a:t>
            </a:r>
          </a:p>
          <a:p>
            <a:r>
              <a:rPr lang="ru-RU" dirty="0"/>
              <a:t>  Медиана: 0.62</a:t>
            </a:r>
          </a:p>
          <a:p>
            <a:r>
              <a:rPr lang="ru-RU" dirty="0"/>
              <a:t>  Дисперсия: 0.04</a:t>
            </a:r>
          </a:p>
          <a:p>
            <a:r>
              <a:rPr lang="ru-RU" dirty="0"/>
              <a:t>  Коэффициент асимметрии: -0.34</a:t>
            </a:r>
          </a:p>
          <a:p>
            <a:r>
              <a:rPr lang="ru-RU" dirty="0"/>
              <a:t>  Математическое ожидание: 0.64</a:t>
            </a:r>
          </a:p>
          <a:p>
            <a:r>
              <a:rPr lang="ru-RU" dirty="0"/>
              <a:t>План 2:</a:t>
            </a:r>
          </a:p>
          <a:p>
            <a:r>
              <a:rPr lang="ru-RU" dirty="0"/>
              <a:t>  Медиана: 0.64</a:t>
            </a:r>
          </a:p>
          <a:p>
            <a:r>
              <a:rPr lang="ru-RU" dirty="0"/>
              <a:t>  Дисперсия: 0.06</a:t>
            </a:r>
          </a:p>
          <a:p>
            <a:r>
              <a:rPr lang="ru-RU" dirty="0"/>
              <a:t>  Коэффициент асимметрии: -0.38</a:t>
            </a:r>
          </a:p>
          <a:p>
            <a:r>
              <a:rPr lang="ru-RU" dirty="0"/>
              <a:t>  Математическое ожидание: 0.65</a:t>
            </a:r>
          </a:p>
        </p:txBody>
      </p:sp>
      <p:sp>
        <p:nvSpPr>
          <p:cNvPr id="7" name="TextBox 6">
            <a:extLst>
              <a:ext uri="{FF2B5EF4-FFF2-40B4-BE49-F238E27FC236}">
                <a16:creationId xmlns:a16="http://schemas.microsoft.com/office/drawing/2014/main" id="{E0CF23A6-630F-4252-9CD0-E61D1DDE098E}"/>
              </a:ext>
            </a:extLst>
          </p:cNvPr>
          <p:cNvSpPr txBox="1"/>
          <p:nvPr/>
        </p:nvSpPr>
        <p:spPr>
          <a:xfrm>
            <a:off x="6176963" y="4119084"/>
            <a:ext cx="6096000" cy="1754326"/>
          </a:xfrm>
          <a:prstGeom prst="rect">
            <a:avLst/>
          </a:prstGeom>
          <a:noFill/>
        </p:spPr>
        <p:txBody>
          <a:bodyPr wrap="square">
            <a:spAutoFit/>
          </a:bodyPr>
          <a:lstStyle/>
          <a:p>
            <a:endParaRPr lang="ru-RU" dirty="0"/>
          </a:p>
          <a:p>
            <a:r>
              <a:rPr lang="ru-RU" b="1" dirty="0" err="1"/>
              <a:t>Бутстреп</a:t>
            </a:r>
            <a:r>
              <a:rPr lang="ru-RU" b="1" dirty="0"/>
              <a:t> тест для предмета: СРМА</a:t>
            </a:r>
          </a:p>
          <a:p>
            <a:r>
              <a:rPr lang="ru-RU" dirty="0"/>
              <a:t>  p-значение: 0.15182</a:t>
            </a:r>
          </a:p>
          <a:p>
            <a:r>
              <a:rPr lang="ru-RU" dirty="0"/>
              <a:t>  Результат: p &gt;= 0.05, не отвергаем H₀. Нет достаточных оснований считать, что математические ожидания баллов различаются.</a:t>
            </a:r>
          </a:p>
        </p:txBody>
      </p:sp>
      <p:sp>
        <p:nvSpPr>
          <p:cNvPr id="9" name="TextBox 8">
            <a:extLst>
              <a:ext uri="{FF2B5EF4-FFF2-40B4-BE49-F238E27FC236}">
                <a16:creationId xmlns:a16="http://schemas.microsoft.com/office/drawing/2014/main" id="{52D4F9FF-0EB8-4EFB-B519-3505A5E7D5DD}"/>
              </a:ext>
            </a:extLst>
          </p:cNvPr>
          <p:cNvSpPr txBox="1"/>
          <p:nvPr/>
        </p:nvSpPr>
        <p:spPr>
          <a:xfrm>
            <a:off x="266700" y="4411028"/>
            <a:ext cx="4219575" cy="1754325"/>
          </a:xfrm>
          <a:prstGeom prst="rect">
            <a:avLst/>
          </a:prstGeom>
          <a:noFill/>
        </p:spPr>
        <p:txBody>
          <a:bodyPr wrap="square">
            <a:spAutoFit/>
          </a:bodyPr>
          <a:lstStyle/>
          <a:p>
            <a:r>
              <a:rPr lang="ru-RU" b="1" dirty="0" err="1"/>
              <a:t>Бутстреп</a:t>
            </a:r>
            <a:r>
              <a:rPr lang="ru-RU" b="1" dirty="0"/>
              <a:t> тест для предмета: МА</a:t>
            </a:r>
          </a:p>
          <a:p>
            <a:r>
              <a:rPr lang="ru-RU" dirty="0"/>
              <a:t>  p-значение: 0.73969</a:t>
            </a:r>
          </a:p>
          <a:p>
            <a:r>
              <a:rPr lang="ru-RU" dirty="0"/>
              <a:t>  Результат: p &gt;= 0.05, не отвергаем H₀. Нет достаточных оснований считать, что математические ожидания баллов различаются.</a:t>
            </a:r>
          </a:p>
        </p:txBody>
      </p:sp>
    </p:spTree>
    <p:extLst>
      <p:ext uri="{BB962C8B-B14F-4D97-AF65-F5344CB8AC3E}">
        <p14:creationId xmlns:p14="http://schemas.microsoft.com/office/powerpoint/2010/main" val="4156081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99AB7383-F98B-4548-9079-9066608416E9}"/>
              </a:ext>
            </a:extLst>
          </p:cNvPr>
          <p:cNvPicPr>
            <a:picLocks noChangeAspect="1"/>
          </p:cNvPicPr>
          <p:nvPr/>
        </p:nvPicPr>
        <p:blipFill>
          <a:blip r:embed="rId2"/>
          <a:stretch>
            <a:fillRect/>
          </a:stretch>
        </p:blipFill>
        <p:spPr>
          <a:xfrm>
            <a:off x="442912" y="619125"/>
            <a:ext cx="11306175" cy="5619750"/>
          </a:xfrm>
          <a:prstGeom prst="rect">
            <a:avLst/>
          </a:prstGeom>
        </p:spPr>
      </p:pic>
    </p:spTree>
    <p:extLst>
      <p:ext uri="{BB962C8B-B14F-4D97-AF65-F5344CB8AC3E}">
        <p14:creationId xmlns:p14="http://schemas.microsoft.com/office/powerpoint/2010/main" val="3368253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7330367-2251-47E2-AF94-C0405295DEA8}"/>
              </a:ext>
            </a:extLst>
          </p:cNvPr>
          <p:cNvPicPr>
            <a:picLocks noChangeAspect="1"/>
          </p:cNvPicPr>
          <p:nvPr/>
        </p:nvPicPr>
        <p:blipFill>
          <a:blip r:embed="rId2"/>
          <a:stretch>
            <a:fillRect/>
          </a:stretch>
        </p:blipFill>
        <p:spPr>
          <a:xfrm>
            <a:off x="433387" y="619125"/>
            <a:ext cx="11325225" cy="5619750"/>
          </a:xfrm>
          <a:prstGeom prst="rect">
            <a:avLst/>
          </a:prstGeom>
        </p:spPr>
      </p:pic>
    </p:spTree>
    <p:extLst>
      <p:ext uri="{BB962C8B-B14F-4D97-AF65-F5344CB8AC3E}">
        <p14:creationId xmlns:p14="http://schemas.microsoft.com/office/powerpoint/2010/main" val="365488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1EBCC3-95ED-4F3D-8DFC-2B48C2339F6F}"/>
              </a:ext>
            </a:extLst>
          </p:cNvPr>
          <p:cNvSpPr txBox="1"/>
          <p:nvPr/>
        </p:nvSpPr>
        <p:spPr>
          <a:xfrm>
            <a:off x="6150769" y="-237076"/>
            <a:ext cx="6119812" cy="3539430"/>
          </a:xfrm>
          <a:prstGeom prst="rect">
            <a:avLst/>
          </a:prstGeom>
          <a:noFill/>
        </p:spPr>
        <p:txBody>
          <a:bodyPr wrap="square">
            <a:spAutoFit/>
          </a:bodyPr>
          <a:lstStyle/>
          <a:p>
            <a:endParaRPr lang="ru-RU" sz="1600" dirty="0"/>
          </a:p>
          <a:p>
            <a:endParaRPr lang="ru-RU" sz="1600" dirty="0"/>
          </a:p>
          <a:p>
            <a:r>
              <a:rPr lang="ru-RU" sz="1600" b="1" dirty="0"/>
              <a:t>Анализ не сдавших для предмета: СРМА</a:t>
            </a:r>
          </a:p>
          <a:p>
            <a:r>
              <a:rPr lang="ru-RU" sz="1600" dirty="0"/>
              <a:t>  План 1:</a:t>
            </a:r>
          </a:p>
          <a:p>
            <a:r>
              <a:rPr lang="ru-RU" sz="1600" dirty="0"/>
              <a:t>    Не сдавших (балл &lt; 0.5): 9 из 77</a:t>
            </a:r>
          </a:p>
          <a:p>
            <a:r>
              <a:rPr lang="ru-RU" sz="1600" dirty="0"/>
              <a:t>    Вероятность не сдать: 0.1169</a:t>
            </a:r>
          </a:p>
          <a:p>
            <a:r>
              <a:rPr lang="ru-RU" sz="1600" dirty="0"/>
              <a:t>  План 2:</a:t>
            </a:r>
          </a:p>
          <a:p>
            <a:r>
              <a:rPr lang="ru-RU" sz="1600" dirty="0"/>
              <a:t>    Не сдавших (балл &lt; 0.5): 27 из 144</a:t>
            </a:r>
          </a:p>
          <a:p>
            <a:r>
              <a:rPr lang="ru-RU" sz="1600" dirty="0"/>
              <a:t>    Вероятность не сдать: 0.1875</a:t>
            </a:r>
          </a:p>
          <a:p>
            <a:r>
              <a:rPr lang="ru-RU" sz="1600" dirty="0"/>
              <a:t>  Z-тест для сравнения вероятностей:</a:t>
            </a:r>
          </a:p>
          <a:p>
            <a:r>
              <a:rPr lang="ru-RU" sz="1600" dirty="0"/>
              <a:t>    Статистика Z: -1.35</a:t>
            </a:r>
          </a:p>
          <a:p>
            <a:r>
              <a:rPr lang="ru-RU" sz="1600" dirty="0"/>
              <a:t>    p-значение: 0.1756</a:t>
            </a:r>
          </a:p>
          <a:p>
            <a:r>
              <a:rPr lang="ru-RU" sz="1600" dirty="0"/>
              <a:t>    Результат: p &gt;= 0.05, не отвергаем H₀. Нет достаточных оснований считать, что вероятности не сдать различаются.</a:t>
            </a:r>
          </a:p>
        </p:txBody>
      </p:sp>
      <p:sp>
        <p:nvSpPr>
          <p:cNvPr id="9" name="TextBox 8">
            <a:extLst>
              <a:ext uri="{FF2B5EF4-FFF2-40B4-BE49-F238E27FC236}">
                <a16:creationId xmlns:a16="http://schemas.microsoft.com/office/drawing/2014/main" id="{A910CC5D-C3FD-4293-99FC-11B3B27B12F7}"/>
              </a:ext>
            </a:extLst>
          </p:cNvPr>
          <p:cNvSpPr txBox="1"/>
          <p:nvPr/>
        </p:nvSpPr>
        <p:spPr>
          <a:xfrm>
            <a:off x="76200" y="255366"/>
            <a:ext cx="6096000" cy="3046988"/>
          </a:xfrm>
          <a:prstGeom prst="rect">
            <a:avLst/>
          </a:prstGeom>
          <a:noFill/>
        </p:spPr>
        <p:txBody>
          <a:bodyPr wrap="square">
            <a:spAutoFit/>
          </a:bodyPr>
          <a:lstStyle/>
          <a:p>
            <a:r>
              <a:rPr lang="ru-RU" sz="1600" b="1" dirty="0"/>
              <a:t>Анализ не сдавших для предмета: МА</a:t>
            </a:r>
          </a:p>
          <a:p>
            <a:r>
              <a:rPr lang="ru-RU" sz="1600" dirty="0"/>
              <a:t>  План 1:</a:t>
            </a:r>
          </a:p>
          <a:p>
            <a:r>
              <a:rPr lang="ru-RU" sz="1600" dirty="0"/>
              <a:t>    Не сдавших (балл &lt; 0.5): 36 из 123</a:t>
            </a:r>
          </a:p>
          <a:p>
            <a:r>
              <a:rPr lang="ru-RU" sz="1600" dirty="0"/>
              <a:t>    Вероятность не сдать: 0.2927</a:t>
            </a:r>
          </a:p>
          <a:p>
            <a:r>
              <a:rPr lang="ru-RU" sz="1600" dirty="0"/>
              <a:t>  План 2:</a:t>
            </a:r>
          </a:p>
          <a:p>
            <a:r>
              <a:rPr lang="ru-RU" sz="1600" dirty="0"/>
              <a:t>    Не сдавших (балл &lt; 0.5): 55 из 137</a:t>
            </a:r>
          </a:p>
          <a:p>
            <a:r>
              <a:rPr lang="ru-RU" sz="1600" dirty="0"/>
              <a:t>    Вероятность не сдать: 0.4015</a:t>
            </a:r>
          </a:p>
          <a:p>
            <a:r>
              <a:rPr lang="ru-RU" sz="1600" dirty="0"/>
              <a:t>  Z-тест для сравнения вероятностей:</a:t>
            </a:r>
          </a:p>
          <a:p>
            <a:r>
              <a:rPr lang="ru-RU" sz="1600" dirty="0"/>
              <a:t>    Статистика Z: -1.84</a:t>
            </a:r>
          </a:p>
          <a:p>
            <a:r>
              <a:rPr lang="ru-RU" sz="1600" dirty="0"/>
              <a:t>    p-значение: 0.0664</a:t>
            </a:r>
          </a:p>
          <a:p>
            <a:r>
              <a:rPr lang="ru-RU" sz="1600" dirty="0"/>
              <a:t>    Результат: p &gt;= 0.05, не отвергаем H₀. Нет достаточных оснований считать, что вероятности не сдать различаются.</a:t>
            </a:r>
          </a:p>
        </p:txBody>
      </p:sp>
      <p:sp>
        <p:nvSpPr>
          <p:cNvPr id="11" name="TextBox 10">
            <a:extLst>
              <a:ext uri="{FF2B5EF4-FFF2-40B4-BE49-F238E27FC236}">
                <a16:creationId xmlns:a16="http://schemas.microsoft.com/office/drawing/2014/main" id="{31CFFD34-F030-4A94-9A60-FA52DD0CEC72}"/>
              </a:ext>
            </a:extLst>
          </p:cNvPr>
          <p:cNvSpPr txBox="1"/>
          <p:nvPr/>
        </p:nvSpPr>
        <p:spPr>
          <a:xfrm>
            <a:off x="76200" y="3429000"/>
            <a:ext cx="6143624" cy="3293209"/>
          </a:xfrm>
          <a:prstGeom prst="rect">
            <a:avLst/>
          </a:prstGeom>
          <a:noFill/>
        </p:spPr>
        <p:txBody>
          <a:bodyPr wrap="square">
            <a:spAutoFit/>
          </a:bodyPr>
          <a:lstStyle/>
          <a:p>
            <a:r>
              <a:rPr lang="ru-RU" sz="1600" b="1" dirty="0"/>
              <a:t>Анализ хорошистов и отличников предмета: МА</a:t>
            </a:r>
          </a:p>
          <a:p>
            <a:r>
              <a:rPr lang="ru-RU" sz="1600" dirty="0"/>
              <a:t>  План 1:</a:t>
            </a:r>
          </a:p>
          <a:p>
            <a:r>
              <a:rPr lang="ru-RU" sz="1600" dirty="0"/>
              <a:t>    Хорошистов и отличников (балл &gt;= 0.7): 42 из 123</a:t>
            </a:r>
          </a:p>
          <a:p>
            <a:r>
              <a:rPr lang="ru-RU" sz="1600" dirty="0"/>
              <a:t>    Вероятность получить хорошую оценку: 0.3415</a:t>
            </a:r>
          </a:p>
          <a:p>
            <a:r>
              <a:rPr lang="ru-RU" sz="1600" dirty="0"/>
              <a:t>  План 2:</a:t>
            </a:r>
          </a:p>
          <a:p>
            <a:r>
              <a:rPr lang="ru-RU" sz="1600" dirty="0"/>
              <a:t>    Хорошистов и отличников (балл &gt;= 0.7): 36 из 137</a:t>
            </a:r>
          </a:p>
          <a:p>
            <a:r>
              <a:rPr lang="ru-RU" sz="1600" dirty="0"/>
              <a:t>    Вероятность получить хорошую оценку: 0.2628</a:t>
            </a:r>
          </a:p>
          <a:p>
            <a:r>
              <a:rPr lang="ru-RU" sz="1600" dirty="0"/>
              <a:t>  Z-тест для сравнения вероятностей:</a:t>
            </a:r>
          </a:p>
          <a:p>
            <a:r>
              <a:rPr lang="ru-RU" sz="1600" dirty="0"/>
              <a:t>    Статистика Z: 1.38</a:t>
            </a:r>
          </a:p>
          <a:p>
            <a:r>
              <a:rPr lang="ru-RU" sz="1600" dirty="0"/>
              <a:t>    p-значение: 0.1668</a:t>
            </a:r>
          </a:p>
          <a:p>
            <a:r>
              <a:rPr lang="ru-RU" sz="1600" dirty="0"/>
              <a:t>    Результат: p &gt;= 0.05, не отвергаем H₀. Нет достаточных оснований считать, что вероятности получить хорошую оценку различаются.</a:t>
            </a:r>
          </a:p>
          <a:p>
            <a:endParaRPr lang="ru-RU" sz="1600" dirty="0"/>
          </a:p>
        </p:txBody>
      </p:sp>
      <p:sp>
        <p:nvSpPr>
          <p:cNvPr id="13" name="TextBox 12">
            <a:extLst>
              <a:ext uri="{FF2B5EF4-FFF2-40B4-BE49-F238E27FC236}">
                <a16:creationId xmlns:a16="http://schemas.microsoft.com/office/drawing/2014/main" id="{AE76CBB9-DD74-46E3-B7D3-FEDE0FE401B3}"/>
              </a:ext>
            </a:extLst>
          </p:cNvPr>
          <p:cNvSpPr txBox="1"/>
          <p:nvPr/>
        </p:nvSpPr>
        <p:spPr>
          <a:xfrm>
            <a:off x="6096000" y="3429000"/>
            <a:ext cx="6229350" cy="3046988"/>
          </a:xfrm>
          <a:prstGeom prst="rect">
            <a:avLst/>
          </a:prstGeom>
          <a:noFill/>
        </p:spPr>
        <p:txBody>
          <a:bodyPr wrap="square">
            <a:spAutoFit/>
          </a:bodyPr>
          <a:lstStyle/>
          <a:p>
            <a:r>
              <a:rPr lang="ru-RU" sz="1600" b="1" dirty="0"/>
              <a:t>Анализ хорошистов и отличников предмета: СРМА</a:t>
            </a:r>
          </a:p>
          <a:p>
            <a:r>
              <a:rPr lang="ru-RU" sz="1600" dirty="0"/>
              <a:t>  План 1:</a:t>
            </a:r>
          </a:p>
          <a:p>
            <a:r>
              <a:rPr lang="ru-RU" sz="1600" dirty="0"/>
              <a:t>    Хорошистов и отличников (балл &gt;= 0.7): 31 из 77</a:t>
            </a:r>
          </a:p>
          <a:p>
            <a:r>
              <a:rPr lang="ru-RU" sz="1600" dirty="0"/>
              <a:t>    Вероятность получить хорошую оценку: 0.4026</a:t>
            </a:r>
          </a:p>
          <a:p>
            <a:r>
              <a:rPr lang="ru-RU" sz="1600" dirty="0"/>
              <a:t>  План 2:</a:t>
            </a:r>
          </a:p>
          <a:p>
            <a:r>
              <a:rPr lang="ru-RU" sz="1600" dirty="0"/>
              <a:t>    Хорошистов и отличников (балл &gt;= 0.7): 67 из 144</a:t>
            </a:r>
          </a:p>
          <a:p>
            <a:r>
              <a:rPr lang="ru-RU" sz="1600" dirty="0"/>
              <a:t>    Вероятность получить хорошую оценку: 0.4653</a:t>
            </a:r>
          </a:p>
          <a:p>
            <a:r>
              <a:rPr lang="ru-RU" sz="1600" dirty="0"/>
              <a:t>  Z-тест для сравнения вероятностей:</a:t>
            </a:r>
          </a:p>
          <a:p>
            <a:r>
              <a:rPr lang="ru-RU" sz="1600" dirty="0"/>
              <a:t>    Статистика Z: -0.89</a:t>
            </a:r>
          </a:p>
          <a:p>
            <a:r>
              <a:rPr lang="ru-RU" sz="1600" dirty="0"/>
              <a:t>    p-значение: 0.3715</a:t>
            </a:r>
          </a:p>
          <a:p>
            <a:r>
              <a:rPr lang="ru-RU" sz="1600" dirty="0"/>
              <a:t>    Результат: p &gt;= 0.05, не отвергаем H₀. Нет достаточных оснований считать, что вероятности получить хорошую оценку различаются.</a:t>
            </a:r>
          </a:p>
        </p:txBody>
      </p:sp>
    </p:spTree>
    <p:extLst>
      <p:ext uri="{BB962C8B-B14F-4D97-AF65-F5344CB8AC3E}">
        <p14:creationId xmlns:p14="http://schemas.microsoft.com/office/powerpoint/2010/main" val="175567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6A6D773-F625-447A-A0EF-A26E095B3D86}"/>
              </a:ext>
            </a:extLst>
          </p:cNvPr>
          <p:cNvSpPr txBox="1"/>
          <p:nvPr/>
        </p:nvSpPr>
        <p:spPr>
          <a:xfrm>
            <a:off x="304800" y="2734270"/>
            <a:ext cx="6096000" cy="923330"/>
          </a:xfrm>
          <a:prstGeom prst="rect">
            <a:avLst/>
          </a:prstGeom>
          <a:noFill/>
        </p:spPr>
        <p:txBody>
          <a:bodyPr wrap="square">
            <a:spAutoFit/>
          </a:bodyPr>
          <a:lstStyle/>
          <a:p>
            <a:r>
              <a:rPr lang="ru-RU" dirty="0"/>
              <a:t>p = 0.0037650219015699705</a:t>
            </a:r>
          </a:p>
          <a:p>
            <a:r>
              <a:rPr lang="ru-RU" dirty="0"/>
              <a:t>Дисперсии значимо различаются (p &lt; 0.05) </a:t>
            </a:r>
          </a:p>
          <a:p>
            <a:r>
              <a:rPr lang="ru-RU" dirty="0"/>
              <a:t>Дисперсия в плане 2 больше</a:t>
            </a:r>
          </a:p>
        </p:txBody>
      </p:sp>
      <p:sp>
        <p:nvSpPr>
          <p:cNvPr id="9" name="TextBox 8">
            <a:extLst>
              <a:ext uri="{FF2B5EF4-FFF2-40B4-BE49-F238E27FC236}">
                <a16:creationId xmlns:a16="http://schemas.microsoft.com/office/drawing/2014/main" id="{EB2DC7A0-1AD6-45A0-84B3-4CD28722B726}"/>
              </a:ext>
            </a:extLst>
          </p:cNvPr>
          <p:cNvSpPr txBox="1"/>
          <p:nvPr/>
        </p:nvSpPr>
        <p:spPr>
          <a:xfrm>
            <a:off x="304800" y="2245622"/>
            <a:ext cx="6096000" cy="369332"/>
          </a:xfrm>
          <a:prstGeom prst="rect">
            <a:avLst/>
          </a:prstGeom>
          <a:noFill/>
        </p:spPr>
        <p:txBody>
          <a:bodyPr wrap="square">
            <a:spAutoFit/>
          </a:bodyPr>
          <a:lstStyle/>
          <a:p>
            <a:r>
              <a:rPr lang="ru-RU" b="1" dirty="0"/>
              <a:t>Проверим гипотезу о равенстве дисперсий для СРМА:</a:t>
            </a:r>
          </a:p>
        </p:txBody>
      </p:sp>
      <p:sp>
        <p:nvSpPr>
          <p:cNvPr id="11" name="TextBox 10">
            <a:extLst>
              <a:ext uri="{FF2B5EF4-FFF2-40B4-BE49-F238E27FC236}">
                <a16:creationId xmlns:a16="http://schemas.microsoft.com/office/drawing/2014/main" id="{DF711B53-7F1F-4E56-B378-0BC7F2D5E23F}"/>
              </a:ext>
            </a:extLst>
          </p:cNvPr>
          <p:cNvSpPr txBox="1"/>
          <p:nvPr/>
        </p:nvSpPr>
        <p:spPr>
          <a:xfrm>
            <a:off x="304800" y="577334"/>
            <a:ext cx="6096000" cy="369332"/>
          </a:xfrm>
          <a:prstGeom prst="rect">
            <a:avLst/>
          </a:prstGeom>
          <a:noFill/>
        </p:spPr>
        <p:txBody>
          <a:bodyPr wrap="square">
            <a:spAutoFit/>
          </a:bodyPr>
          <a:lstStyle/>
          <a:p>
            <a:r>
              <a:rPr lang="ru-RU" b="1" dirty="0"/>
              <a:t>Проверим гипотезу о равенстве дисперсий для МА:</a:t>
            </a:r>
          </a:p>
        </p:txBody>
      </p:sp>
      <p:sp>
        <p:nvSpPr>
          <p:cNvPr id="13" name="TextBox 12">
            <a:extLst>
              <a:ext uri="{FF2B5EF4-FFF2-40B4-BE49-F238E27FC236}">
                <a16:creationId xmlns:a16="http://schemas.microsoft.com/office/drawing/2014/main" id="{D15D0866-7270-45EC-A59B-7B77CEE47C51}"/>
              </a:ext>
            </a:extLst>
          </p:cNvPr>
          <p:cNvSpPr txBox="1"/>
          <p:nvPr/>
        </p:nvSpPr>
        <p:spPr>
          <a:xfrm>
            <a:off x="304800" y="1085165"/>
            <a:ext cx="6096000" cy="646331"/>
          </a:xfrm>
          <a:prstGeom prst="rect">
            <a:avLst/>
          </a:prstGeom>
          <a:noFill/>
        </p:spPr>
        <p:txBody>
          <a:bodyPr wrap="square">
            <a:spAutoFit/>
          </a:bodyPr>
          <a:lstStyle/>
          <a:p>
            <a:r>
              <a:rPr lang="ru-RU" dirty="0"/>
              <a:t>p = 0.20759791522558588</a:t>
            </a:r>
          </a:p>
          <a:p>
            <a:r>
              <a:rPr lang="ru-RU" dirty="0"/>
              <a:t>Нет оснований считать, что дисперсии отличаются (</a:t>
            </a:r>
            <a:r>
              <a:rPr lang="en-US" dirty="0"/>
              <a:t>p &gt; 0.05)</a:t>
            </a:r>
            <a:endParaRPr lang="ru-RU" dirty="0"/>
          </a:p>
        </p:txBody>
      </p:sp>
    </p:spTree>
    <p:extLst>
      <p:ext uri="{BB962C8B-B14F-4D97-AF65-F5344CB8AC3E}">
        <p14:creationId xmlns:p14="http://schemas.microsoft.com/office/powerpoint/2010/main" val="469547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CBF1D9D-7813-49DE-86F0-B1A3DD52B8ED}"/>
              </a:ext>
            </a:extLst>
          </p:cNvPr>
          <p:cNvSpPr txBox="1"/>
          <p:nvPr/>
        </p:nvSpPr>
        <p:spPr>
          <a:xfrm>
            <a:off x="3314700" y="441394"/>
            <a:ext cx="6096000" cy="5909310"/>
          </a:xfrm>
          <a:prstGeom prst="rect">
            <a:avLst/>
          </a:prstGeom>
          <a:noFill/>
        </p:spPr>
        <p:txBody>
          <a:bodyPr wrap="square">
            <a:spAutoFit/>
          </a:bodyPr>
          <a:lstStyle/>
          <a:p>
            <a:r>
              <a:rPr lang="ru-RU" sz="2000" b="1" dirty="0"/>
              <a:t>Вывод по предметам СРМА, МА:</a:t>
            </a:r>
          </a:p>
          <a:p>
            <a:endParaRPr lang="ru-RU" b="1" dirty="0"/>
          </a:p>
          <a:p>
            <a:r>
              <a:rPr lang="ru-RU" b="1" dirty="0"/>
              <a:t>МА: </a:t>
            </a:r>
            <a:r>
              <a:rPr lang="ru-RU" dirty="0"/>
              <a:t>Статистические методы показали незначительно лучшее усвоение материала в первой группе, по сравнению со второй МА. Но следует отметить, что не были учтены студенты, получившие менее 5 баллов (мы считаем их не приступившими к учебе или бросившими ее), а их значительно больше в первой группе 20 против 6 из второй группы. С учетом данных студентов ситуация выравнивается</a:t>
            </a:r>
          </a:p>
          <a:p>
            <a:endParaRPr lang="ru-RU" dirty="0"/>
          </a:p>
          <a:p>
            <a:r>
              <a:rPr lang="ru-RU" b="1" dirty="0"/>
              <a:t>СРМА: </a:t>
            </a:r>
            <a:r>
              <a:rPr lang="ru-RU" dirty="0"/>
              <a:t>В изучении данного предмета несколько лучше себя показали обучающиеся по первому плану (вероятность получения неудовлетворительной оценки меньше чем 2 раза). Парадоксально, что вторая группа показывает несколько лучшие результаты у успевающих студентов. Они хоть и не являются статистически значимыми, тем не менее это возможно указывает на небольшую поляризацию в группе: </a:t>
            </a:r>
            <a:r>
              <a:rPr lang="ru-RU" i="1" dirty="0"/>
              <a:t>сильные студенты выигрывают от плана, а слабые — проигрывают. </a:t>
            </a:r>
            <a:r>
              <a:rPr lang="ru-RU" dirty="0"/>
              <a:t>Что подтверждается также тем, что у второй группы дисперсия распределения баллов значительно больше, чем у первой</a:t>
            </a:r>
          </a:p>
        </p:txBody>
      </p:sp>
    </p:spTree>
    <p:extLst>
      <p:ext uri="{BB962C8B-B14F-4D97-AF65-F5344CB8AC3E}">
        <p14:creationId xmlns:p14="http://schemas.microsoft.com/office/powerpoint/2010/main" val="1552734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78E7DE-ADFD-477A-BDFE-1243502B5ABF}"/>
              </a:ext>
            </a:extLst>
          </p:cNvPr>
          <p:cNvSpPr txBox="1"/>
          <p:nvPr/>
        </p:nvSpPr>
        <p:spPr>
          <a:xfrm>
            <a:off x="419100" y="676274"/>
            <a:ext cx="9077325" cy="3754874"/>
          </a:xfrm>
          <a:prstGeom prst="rect">
            <a:avLst/>
          </a:prstGeom>
          <a:noFill/>
        </p:spPr>
        <p:txBody>
          <a:bodyPr wrap="square" rtlCol="0">
            <a:spAutoFit/>
          </a:bodyPr>
          <a:lstStyle/>
          <a:p>
            <a:pPr algn="just"/>
            <a:r>
              <a:rPr lang="ru-RU" sz="2000" b="1" dirty="0"/>
              <a:t>Выводы по работе:</a:t>
            </a:r>
          </a:p>
          <a:p>
            <a:pPr algn="just"/>
            <a:r>
              <a:rPr lang="ru-RU" dirty="0"/>
              <a:t>Проанализировав данные, можем сделать такой выводы</a:t>
            </a:r>
            <a:r>
              <a:rPr lang="ru-RU" b="1" dirty="0"/>
              <a:t>: </a:t>
            </a:r>
            <a:r>
              <a:rPr lang="ru-RU" dirty="0"/>
              <a:t>перенос предметов скорее негативно повлиял на успеваемость по предметам МА, </a:t>
            </a:r>
            <a:r>
              <a:rPr lang="ru-RU" dirty="0" err="1"/>
              <a:t>ТВиМС</a:t>
            </a:r>
            <a:r>
              <a:rPr lang="ru-RU" dirty="0"/>
              <a:t>. По ДУ лучшие результаты показывают студенты, которые обучаются по второму плану, но здесь вероятно критична замена лектора. Также несколько лучшие результаты показали обучающиеся по второму плану по ДМ, а по СРМА изменения нельзя назвать значимыми. Также по предметам ДМ и СРМА имеет место небольшая поляризация баллов: сильные студенты выигрывают от плана, а слабые — проигрывают. </a:t>
            </a:r>
          </a:p>
          <a:p>
            <a:pPr algn="just"/>
            <a:endParaRPr lang="ru-RU" dirty="0"/>
          </a:p>
          <a:p>
            <a:pPr algn="just"/>
            <a:r>
              <a:rPr lang="ru-RU" sz="2000" b="1" dirty="0"/>
              <a:t>Вердикт:</a:t>
            </a:r>
          </a:p>
          <a:p>
            <a:pPr algn="just"/>
            <a:r>
              <a:rPr lang="ru-RU" dirty="0"/>
              <a:t>С изменением учебного плана </a:t>
            </a:r>
            <a:r>
              <a:rPr lang="ru-RU" b="1" dirty="0"/>
              <a:t>успеваемость студентов немного снизилась</a:t>
            </a:r>
            <a:r>
              <a:rPr lang="ru-RU" dirty="0"/>
              <a:t>. Данный результат закономерен, т.к. обучающиеся по плану 2 имеют большую нагрузку по математическим предметам</a:t>
            </a:r>
          </a:p>
        </p:txBody>
      </p:sp>
    </p:spTree>
    <p:extLst>
      <p:ext uri="{BB962C8B-B14F-4D97-AF65-F5344CB8AC3E}">
        <p14:creationId xmlns:p14="http://schemas.microsoft.com/office/powerpoint/2010/main" val="94120133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2793</Words>
  <Application>Microsoft Office PowerPoint</Application>
  <PresentationFormat>Широкоэкранный</PresentationFormat>
  <Paragraphs>369</Paragraphs>
  <Slides>36</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36</vt:i4>
      </vt:variant>
    </vt:vector>
  </HeadingPairs>
  <TitlesOfParts>
    <vt:vector size="43" baseType="lpstr">
      <vt:lpstr>Arial</vt:lpstr>
      <vt:lpstr>Calibri</vt:lpstr>
      <vt:lpstr>Calibri Light</vt:lpstr>
      <vt:lpstr>Courier New</vt:lpstr>
      <vt:lpstr>Roboto</vt:lpstr>
      <vt:lpstr>Times New Roman</vt:lpstr>
      <vt:lpstr>Тема Office</vt:lpstr>
      <vt:lpstr>Цель: провести сравнительный анализ успеваемости по математическим дисциплинам студентов, обучающихся по разным планам по направлению подготовки ПИН, с учетом их начальной подготовки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РГР ТВиМС</dc:title>
  <dc:creator>Иван</dc:creator>
  <cp:lastModifiedBy>Денис</cp:lastModifiedBy>
  <cp:revision>34</cp:revision>
  <dcterms:created xsi:type="dcterms:W3CDTF">2025-06-05T18:03:06Z</dcterms:created>
  <dcterms:modified xsi:type="dcterms:W3CDTF">2025-08-21T16:30:40Z</dcterms:modified>
</cp:coreProperties>
</file>